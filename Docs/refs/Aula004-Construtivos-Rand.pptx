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305" r:id="rId3"/>
    <p:sldId id="306" r:id="rId4"/>
    <p:sldId id="333" r:id="rId5"/>
    <p:sldId id="335" r:id="rId6"/>
    <p:sldId id="334" r:id="rId7"/>
    <p:sldId id="332" r:id="rId8"/>
    <p:sldId id="336" r:id="rId9"/>
    <p:sldId id="323" r:id="rId10"/>
    <p:sldId id="325" r:id="rId11"/>
    <p:sldId id="327" r:id="rId12"/>
    <p:sldId id="328" r:id="rId13"/>
    <p:sldId id="330" r:id="rId14"/>
    <p:sldId id="331" r:id="rId15"/>
    <p:sldId id="329" r:id="rId16"/>
    <p:sldId id="326" r:id="rId17"/>
    <p:sldId id="304" r:id="rId18"/>
    <p:sldId id="322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511" autoAdjust="0"/>
  </p:normalViewPr>
  <p:slideViewPr>
    <p:cSldViewPr snapToGrid="0" snapToObjects="1">
      <p:cViewPr varScale="1">
        <p:scale>
          <a:sx n="81" d="100"/>
          <a:sy n="81" d="100"/>
        </p:scale>
        <p:origin x="-193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interSettings" Target="printerSettings/printerSettings1.bin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A55C1-C5C6-3049-9971-CDA591A54CB8}" type="datetimeFigureOut">
              <a:rPr lang="en-US" smtClean="0"/>
              <a:t>01/09/14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5BE33-C52C-484B-8B28-DE4B9883E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933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4E2E0-971D-2E41-829D-C871A857D5C6}" type="datetimeFigureOut">
              <a:rPr lang="en-US" smtClean="0"/>
              <a:t>01/09/14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0520DE-4DE4-E34A-8599-26993011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04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4A1AB89-24C6-6749-A736-FF380A6E9C9E}" type="datetime1">
              <a:rPr lang="pt-BR" smtClean="0"/>
              <a:t>01/09/14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1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ACAC76F-94B0-7D45-9ED8-9E5313C97F20}" type="datetime1">
              <a:rPr lang="pt-BR" smtClean="0"/>
              <a:t>01/09/14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65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A835123-FA02-9B4C-8834-6DE0F4C11372}" type="datetime1">
              <a:rPr lang="pt-BR" smtClean="0"/>
              <a:t>01/09/14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1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9CD699-8B00-B345-990F-6BF9D07F8BFF}" type="datetime1">
              <a:rPr lang="pt-BR" smtClean="0"/>
              <a:t>01/09/14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25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CB35CB7-8D6A-A246-941D-FE5A9DF41390}" type="datetime1">
              <a:rPr lang="pt-BR" smtClean="0"/>
              <a:t>01/09/14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5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82C9644-E2DE-5E4E-81FD-3487FBF5DA3D}" type="datetime1">
              <a:rPr lang="pt-BR" smtClean="0"/>
              <a:t>01/09/14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2C15934-E9CA-F441-9D71-2BB136CEE4FB}" type="datetime1">
              <a:rPr lang="pt-BR" smtClean="0"/>
              <a:t>01/09/14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1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FB9269F-FA9A-7948-9D36-280B95172D37}" type="datetime1">
              <a:rPr lang="pt-BR" smtClean="0"/>
              <a:t>01/09/14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9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5F8FE8A-A2DB-3E4A-9982-D27043DC2520}" type="datetime1">
              <a:rPr lang="pt-BR" smtClean="0"/>
              <a:t>01/09/14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73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C84DAC8-F683-0A49-AD28-FBFB0F49D008}" type="datetime1">
              <a:rPr lang="pt-BR" smtClean="0"/>
              <a:t>01/09/14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1108E0D-248B-A14A-AF46-F995BD82164E}" type="datetime1">
              <a:rPr lang="pt-BR" smtClean="0"/>
              <a:t>01/09/14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6100" y="6356350"/>
            <a:ext cx="7581274" cy="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04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3575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575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7374" y="6356350"/>
            <a:ext cx="479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19B13-AD60-D14B-A0BC-B16684C062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 rot="16200000">
            <a:off x="-3115951" y="3115950"/>
            <a:ext cx="6858000" cy="626099"/>
          </a:xfrm>
          <a:prstGeom prst="rect">
            <a:avLst/>
          </a:prstGeom>
          <a:solidFill>
            <a:srgbClr val="80808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Arial Rounded MT Bold"/>
                <a:cs typeface="Arial Rounded MT Bold"/>
              </a:rPr>
              <a:t>DCC136 – INTELIGÊNCIA COMPUTACIOAL</a:t>
            </a:r>
            <a:endParaRPr lang="en-US" sz="2400" dirty="0">
              <a:latin typeface="Arial Rounded MT Bold"/>
              <a:cs typeface="Arial Rounded MT Bold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6099" y="1417638"/>
            <a:ext cx="851790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626099" y="6126163"/>
            <a:ext cx="851790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20749" y="6308899"/>
            <a:ext cx="603251" cy="435455"/>
          </a:xfrm>
          <a:prstGeom prst="rect">
            <a:avLst/>
          </a:prstGeom>
        </p:spPr>
      </p:pic>
      <p:pic>
        <p:nvPicPr>
          <p:cNvPr id="11" name="Picture 10" descr="logo_dcc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511" y="6356350"/>
            <a:ext cx="960242" cy="422275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1016000" y="6178629"/>
            <a:ext cx="64134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LUCIANA BRUGIOLO GONÇALVES</a:t>
            </a:r>
          </a:p>
          <a:p>
            <a:pPr algn="ctr"/>
            <a:r>
              <a:rPr lang="en-US" dirty="0" smtClean="0"/>
              <a:t>DEPARTAMENTO DE CIÊNCIA DA COMPUTAÇÃO - UFJF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37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- DCC136 -</a:t>
            </a:r>
            <a:br>
              <a:rPr lang="en-US" dirty="0" smtClean="0"/>
            </a:br>
            <a:r>
              <a:rPr lang="en-US" dirty="0" err="1" smtClean="0"/>
              <a:t>Algoritmos</a:t>
            </a:r>
            <a:r>
              <a:rPr lang="en-US" dirty="0" smtClean="0"/>
              <a:t> </a:t>
            </a:r>
            <a:r>
              <a:rPr lang="en-US" dirty="0" err="1" smtClean="0"/>
              <a:t>Construtivos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772400" cy="17526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– </a:t>
            </a:r>
            <a:r>
              <a:rPr lang="en-US" dirty="0" err="1" smtClean="0"/>
              <a:t>Heurísticas</a:t>
            </a:r>
            <a:r>
              <a:rPr lang="en-US" dirty="0" smtClean="0"/>
              <a:t> de </a:t>
            </a:r>
            <a:r>
              <a:rPr lang="en-US" dirty="0" err="1" smtClean="0"/>
              <a:t>Construção</a:t>
            </a:r>
            <a:r>
              <a:rPr lang="en-US" dirty="0" smtClean="0"/>
              <a:t> </a:t>
            </a:r>
            <a:r>
              <a:rPr lang="en-US" dirty="0" smtClean="0"/>
              <a:t>–</a:t>
            </a:r>
          </a:p>
          <a:p>
            <a:r>
              <a:rPr lang="en-US" dirty="0" smtClean="0"/>
              <a:t>(CONTINUA</a:t>
            </a:r>
            <a:r>
              <a:rPr lang="en-US" dirty="0" smtClean="0"/>
              <a:t>ÇÃO….</a:t>
            </a:r>
            <a:r>
              <a:rPr lang="en-US" dirty="0" smtClean="0"/>
              <a:t>)</a:t>
            </a:r>
            <a:endParaRPr lang="en-US" dirty="0" smtClean="0"/>
          </a:p>
          <a:p>
            <a:pPr marL="457200" indent="-457200">
              <a:buFontTx/>
              <a:buChar char="-"/>
            </a:pPr>
            <a:endParaRPr lang="en-US" dirty="0"/>
          </a:p>
        </p:txBody>
      </p:sp>
      <p:pic>
        <p:nvPicPr>
          <p:cNvPr id="4" name="Picture 3" descr="logo_dcc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515" y="186383"/>
            <a:ext cx="2464302" cy="108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0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Conceitos Comuns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Roteiro</a:t>
            </a:r>
          </a:p>
          <a:p>
            <a:pPr lvl="1"/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Algoritmo de Construção</a:t>
            </a:r>
          </a:p>
          <a:p>
            <a:pPr lvl="1"/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Algoritmo Guloso</a:t>
            </a:r>
          </a:p>
          <a:p>
            <a:pPr lvl="1"/>
            <a:endParaRPr lang="pt-BR" dirty="0"/>
          </a:p>
          <a:p>
            <a:pPr lvl="1"/>
            <a:r>
              <a:rPr lang="pt-BR" dirty="0" smtClean="0"/>
              <a:t>Algoritmo Guloso randomizado, adaptativo, reativo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760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Métodos Construtivos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x-none" dirty="0" smtClean="0"/>
              <a:t>Algoritmo GULOSO</a:t>
            </a:r>
          </a:p>
          <a:p>
            <a:pPr lvl="1"/>
            <a:r>
              <a:rPr lang="en-US" dirty="0" err="1" smtClean="0"/>
              <a:t>Seleciona</a:t>
            </a:r>
            <a:r>
              <a:rPr lang="en-US" dirty="0" smtClean="0"/>
              <a:t>-se o </a:t>
            </a:r>
            <a:r>
              <a:rPr lang="en-US" dirty="0" err="1"/>
              <a:t>elemento</a:t>
            </a:r>
            <a:r>
              <a:rPr lang="en-US" dirty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/>
              <a:t>minimiza</a:t>
            </a:r>
            <a:r>
              <a:rPr lang="en-US" dirty="0"/>
              <a:t> o </a:t>
            </a:r>
            <a:r>
              <a:rPr lang="en-US" dirty="0" err="1"/>
              <a:t>incremento</a:t>
            </a:r>
            <a:r>
              <a:rPr lang="en-US" dirty="0"/>
              <a:t> no </a:t>
            </a:r>
            <a:r>
              <a:rPr lang="en-US" dirty="0" err="1"/>
              <a:t>custo</a:t>
            </a:r>
            <a:r>
              <a:rPr lang="en-US" dirty="0"/>
              <a:t> da </a:t>
            </a:r>
            <a:r>
              <a:rPr lang="en-US" dirty="0" err="1"/>
              <a:t>solução</a:t>
            </a:r>
            <a:r>
              <a:rPr lang="en-US" dirty="0"/>
              <a:t> </a:t>
            </a:r>
            <a:r>
              <a:rPr lang="en-US" dirty="0" err="1" smtClean="0"/>
              <a:t>parcial</a:t>
            </a:r>
            <a:r>
              <a:rPr lang="en-US" dirty="0" smtClean="0"/>
              <a:t> de </a:t>
            </a:r>
            <a:r>
              <a:rPr lang="en-US" dirty="0" err="1"/>
              <a:t>tal</a:t>
            </a:r>
            <a:r>
              <a:rPr lang="en-US" dirty="0"/>
              <a:t> forma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final se </a:t>
            </a:r>
            <a:r>
              <a:rPr lang="en-US" dirty="0" err="1"/>
              <a:t>obtenha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solução</a:t>
            </a:r>
            <a:r>
              <a:rPr lang="en-US" dirty="0"/>
              <a:t> </a:t>
            </a:r>
            <a:r>
              <a:rPr lang="en-US" dirty="0" err="1"/>
              <a:t>viável</a:t>
            </a:r>
            <a:r>
              <a:rPr lang="en-US" dirty="0" smtClean="0"/>
              <a:t>.</a:t>
            </a:r>
            <a:endParaRPr lang="en-US" dirty="0"/>
          </a:p>
          <a:p>
            <a:pPr lvl="1">
              <a:defRPr/>
            </a:pPr>
            <a:r>
              <a:rPr lang="en-US" dirty="0" err="1" smtClean="0"/>
              <a:t>Algoritmo</a:t>
            </a:r>
            <a:r>
              <a:rPr lang="en-US" dirty="0" smtClean="0"/>
              <a:t> </a:t>
            </a:r>
            <a:r>
              <a:rPr lang="en-US" dirty="0" err="1" smtClean="0"/>
              <a:t>míope</a:t>
            </a:r>
            <a:r>
              <a:rPr lang="en-US" dirty="0" smtClean="0"/>
              <a:t>: </a:t>
            </a:r>
            <a:r>
              <a:rPr lang="en-US" dirty="0" err="1" smtClean="0"/>
              <a:t>enxerga</a:t>
            </a:r>
            <a:r>
              <a:rPr lang="en-US" dirty="0" smtClean="0"/>
              <a:t> </a:t>
            </a:r>
            <a:r>
              <a:rPr lang="en-US" dirty="0" err="1"/>
              <a:t>somente</a:t>
            </a:r>
            <a:r>
              <a:rPr lang="en-US" dirty="0"/>
              <a:t> o </a:t>
            </a:r>
            <a:r>
              <a:rPr lang="en-US" dirty="0" err="1" smtClean="0"/>
              <a:t>custo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benef</a:t>
            </a:r>
            <a:r>
              <a:rPr lang="en-US" dirty="0" err="1" smtClean="0"/>
              <a:t>ício</a:t>
            </a:r>
            <a:r>
              <a:rPr lang="en-US" dirty="0" smtClean="0"/>
              <a:t> </a:t>
            </a:r>
            <a:r>
              <a:rPr lang="en-US" dirty="0" err="1" smtClean="0"/>
              <a:t>associado</a:t>
            </a:r>
            <a:r>
              <a:rPr lang="en-US" dirty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próximo</a:t>
            </a:r>
            <a:r>
              <a:rPr lang="en-US" dirty="0" smtClean="0"/>
              <a:t> </a:t>
            </a:r>
            <a:r>
              <a:rPr lang="en-US" dirty="0" err="1" smtClean="0"/>
              <a:t>passo</a:t>
            </a:r>
            <a:r>
              <a:rPr lang="en-US" dirty="0" smtClean="0"/>
              <a:t>. </a:t>
            </a:r>
            <a:r>
              <a:rPr lang="en-US" dirty="0" err="1" smtClean="0"/>
              <a:t>Considera</a:t>
            </a:r>
            <a:r>
              <a:rPr lang="en-US" dirty="0" smtClean="0"/>
              <a:t> </a:t>
            </a:r>
            <a:r>
              <a:rPr lang="en-US" dirty="0" err="1"/>
              <a:t>apenas</a:t>
            </a:r>
            <a:r>
              <a:rPr lang="en-US" dirty="0"/>
              <a:t> a </a:t>
            </a:r>
            <a:r>
              <a:rPr lang="en-US" dirty="0" err="1"/>
              <a:t>próxima</a:t>
            </a:r>
            <a:r>
              <a:rPr lang="en-US" dirty="0"/>
              <a:t> </a:t>
            </a:r>
            <a:r>
              <a:rPr lang="en-US" dirty="0" err="1" smtClean="0"/>
              <a:t>decisão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smtClean="0"/>
              <a:t> </a:t>
            </a:r>
            <a:r>
              <a:rPr lang="en-US" dirty="0" err="1" smtClean="0"/>
              <a:t>Algoritmo</a:t>
            </a:r>
            <a:r>
              <a:rPr lang="en-US" dirty="0" smtClean="0"/>
              <a:t> ALEAT</a:t>
            </a:r>
            <a:r>
              <a:rPr lang="en-US" dirty="0" smtClean="0"/>
              <a:t>ÓRIO</a:t>
            </a:r>
          </a:p>
        </p:txBody>
      </p:sp>
    </p:spTree>
    <p:extLst>
      <p:ext uri="{BB962C8B-B14F-4D97-AF65-F5344CB8AC3E}">
        <p14:creationId xmlns:p14="http://schemas.microsoft.com/office/powerpoint/2010/main" val="3087268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88" y="1761943"/>
            <a:ext cx="7999530" cy="388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36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Algoritmo</a:t>
            </a:r>
            <a:r>
              <a:rPr lang="en-US" dirty="0" smtClean="0"/>
              <a:t> GULOSO x ALEATÓRIO</a:t>
            </a:r>
            <a:endParaRPr lang="en-US" dirty="0"/>
          </a:p>
          <a:p>
            <a:pPr lvl="1">
              <a:defRPr/>
            </a:pPr>
            <a:r>
              <a:rPr lang="en-US" dirty="0" err="1"/>
              <a:t>Qualidade</a:t>
            </a:r>
            <a:r>
              <a:rPr lang="en-US" dirty="0"/>
              <a:t> x Tempo </a:t>
            </a:r>
            <a:r>
              <a:rPr lang="en-US" dirty="0" err="1"/>
              <a:t>processamento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</a:t>
            </a:r>
            <a:r>
              <a:rPr lang="en-US" dirty="0" err="1" smtClean="0"/>
              <a:t>étodos</a:t>
            </a:r>
            <a:r>
              <a:rPr lang="en-US" dirty="0" smtClean="0"/>
              <a:t> </a:t>
            </a:r>
            <a:r>
              <a:rPr lang="en-US" dirty="0" err="1" smtClean="0"/>
              <a:t>Construtivos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674" y="1676269"/>
            <a:ext cx="5973192" cy="431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54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</a:t>
            </a:r>
            <a:r>
              <a:rPr lang="en-US" dirty="0" err="1" smtClean="0"/>
              <a:t>étodos</a:t>
            </a:r>
            <a:r>
              <a:rPr lang="en-US" dirty="0" smtClean="0"/>
              <a:t> </a:t>
            </a:r>
            <a:r>
              <a:rPr lang="en-US" dirty="0" err="1" smtClean="0"/>
              <a:t>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Problema</a:t>
            </a:r>
            <a:r>
              <a:rPr lang="en-US" dirty="0" smtClean="0"/>
              <a:t> da </a:t>
            </a:r>
            <a:r>
              <a:rPr lang="en-US" dirty="0" err="1" smtClean="0"/>
              <a:t>Sequ</a:t>
            </a:r>
            <a:r>
              <a:rPr lang="en-US" dirty="0" err="1" smtClean="0"/>
              <a:t>ê</a:t>
            </a:r>
            <a:r>
              <a:rPr lang="en-US" dirty="0" err="1" smtClean="0"/>
              <a:t>ncia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Pr</a:t>
            </a:r>
            <a:r>
              <a:rPr lang="en-US" dirty="0" err="1" smtClean="0"/>
              <a:t>óxima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7" y="2220892"/>
            <a:ext cx="8093596" cy="362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069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Para o PSP</a:t>
            </a:r>
          </a:p>
          <a:p>
            <a:pPr lvl="1"/>
            <a:r>
              <a:rPr lang="en-US" dirty="0" err="1" smtClean="0"/>
              <a:t>Guloso</a:t>
            </a:r>
            <a:endParaRPr lang="en-US" dirty="0" smtClean="0"/>
          </a:p>
          <a:p>
            <a:pPr lvl="1"/>
            <a:r>
              <a:rPr lang="en-US" dirty="0" err="1" smtClean="0"/>
              <a:t>Aleat</a:t>
            </a:r>
            <a:r>
              <a:rPr lang="en-US" dirty="0" err="1" smtClean="0"/>
              <a:t>ório</a:t>
            </a:r>
            <a:endParaRPr lang="en-US" dirty="0" smtClean="0"/>
          </a:p>
          <a:p>
            <a:pPr lvl="1"/>
            <a:r>
              <a:rPr lang="en-US" dirty="0" err="1" smtClean="0"/>
              <a:t>Adaptativo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03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Semi-</a:t>
            </a:r>
            <a:r>
              <a:rPr lang="en-US" dirty="0" err="1" smtClean="0"/>
              <a:t>guloso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342" y="1521800"/>
            <a:ext cx="4807149" cy="454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044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Guloso</a:t>
            </a:r>
            <a:r>
              <a:rPr lang="en-US" dirty="0" smtClean="0"/>
              <a:t> </a:t>
            </a:r>
            <a:r>
              <a:rPr lang="en-US" dirty="0" err="1" smtClean="0"/>
              <a:t>Aleatorizado</a:t>
            </a:r>
            <a:endParaRPr lang="en-US" dirty="0" smtClean="0"/>
          </a:p>
          <a:p>
            <a:pPr lvl="1">
              <a:defRPr/>
            </a:pP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guloso</a:t>
            </a:r>
            <a:r>
              <a:rPr lang="en-US" dirty="0"/>
              <a:t> </a:t>
            </a:r>
            <a:r>
              <a:rPr lang="en-US" dirty="0" err="1"/>
              <a:t>encontra</a:t>
            </a:r>
            <a:r>
              <a:rPr lang="en-US" dirty="0"/>
              <a:t> </a:t>
            </a:r>
            <a:r>
              <a:rPr lang="en-US" dirty="0" err="1"/>
              <a:t>sempre</a:t>
            </a:r>
            <a:r>
              <a:rPr lang="en-US" dirty="0"/>
              <a:t> a </a:t>
            </a:r>
            <a:r>
              <a:rPr lang="en-US" dirty="0" err="1"/>
              <a:t>mesma</a:t>
            </a:r>
            <a:r>
              <a:rPr lang="en-US" dirty="0"/>
              <a:t> </a:t>
            </a:r>
            <a:r>
              <a:rPr lang="en-US" dirty="0" err="1"/>
              <a:t>solução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um dado </a:t>
            </a:r>
            <a:r>
              <a:rPr lang="en-US" dirty="0" err="1"/>
              <a:t>problema</a:t>
            </a:r>
            <a:r>
              <a:rPr lang="en-US" dirty="0"/>
              <a:t>, </a:t>
            </a:r>
            <a:r>
              <a:rPr lang="en-US" dirty="0" err="1"/>
              <a:t>exceto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eventuais</a:t>
            </a:r>
            <a:r>
              <a:rPr lang="en-US" dirty="0"/>
              <a:t> </a:t>
            </a:r>
            <a:r>
              <a:rPr lang="en-US" dirty="0" err="1" smtClean="0"/>
              <a:t>empates</a:t>
            </a:r>
            <a:r>
              <a:rPr lang="en-US" dirty="0" smtClean="0"/>
              <a:t>.</a:t>
            </a:r>
            <a:endParaRPr lang="en-US" dirty="0"/>
          </a:p>
          <a:p>
            <a:pPr lvl="1">
              <a:defRPr/>
            </a:pPr>
            <a:r>
              <a:rPr lang="en-US" dirty="0" smtClean="0"/>
              <a:t>A </a:t>
            </a:r>
            <a:r>
              <a:rPr lang="en-US" dirty="0" err="1" smtClean="0"/>
              <a:t>aleatorização</a:t>
            </a:r>
            <a:r>
              <a:rPr lang="en-US" dirty="0" smtClean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alcançar</a:t>
            </a:r>
            <a:r>
              <a:rPr lang="en-US" dirty="0"/>
              <a:t> </a:t>
            </a:r>
            <a:r>
              <a:rPr lang="en-US" dirty="0" err="1"/>
              <a:t>diversidade</a:t>
            </a:r>
            <a:r>
              <a:rPr lang="en-US" dirty="0"/>
              <a:t> </a:t>
            </a:r>
            <a:r>
              <a:rPr lang="en-US" dirty="0" err="1"/>
              <a:t>nas</a:t>
            </a:r>
            <a:r>
              <a:rPr lang="en-US" dirty="0"/>
              <a:t> </a:t>
            </a:r>
            <a:r>
              <a:rPr lang="en-US" dirty="0" err="1"/>
              <a:t>soluções</a:t>
            </a:r>
            <a:r>
              <a:rPr lang="en-US" dirty="0"/>
              <a:t> </a:t>
            </a:r>
            <a:r>
              <a:rPr lang="en-US" dirty="0" err="1" smtClean="0"/>
              <a:t>encontradas</a:t>
            </a:r>
            <a:r>
              <a:rPr lang="en-US" dirty="0" smtClean="0"/>
              <a:t>.</a:t>
            </a:r>
            <a:endParaRPr lang="en-US" dirty="0"/>
          </a:p>
          <a:p>
            <a:pPr lvl="1">
              <a:defRPr/>
            </a:pP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de </a:t>
            </a:r>
            <a:r>
              <a:rPr lang="en-US" dirty="0" err="1" smtClean="0"/>
              <a:t>candidatos</a:t>
            </a:r>
            <a:r>
              <a:rPr lang="en-US" dirty="0" smtClean="0"/>
              <a:t> </a:t>
            </a:r>
            <a:r>
              <a:rPr lang="en-US" dirty="0"/>
              <a:t>e </a:t>
            </a:r>
            <a:r>
              <a:rPr lang="en-US" dirty="0" err="1"/>
              <a:t>forçar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escolha</a:t>
            </a:r>
            <a:r>
              <a:rPr lang="en-US" dirty="0"/>
              <a:t> </a:t>
            </a:r>
            <a:r>
              <a:rPr lang="en-US" dirty="0" err="1"/>
              <a:t>aleatória</a:t>
            </a:r>
            <a:r>
              <a:rPr lang="en-US" dirty="0"/>
              <a:t> 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 smtClean="0"/>
              <a:t>iteração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47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Guloso</a:t>
            </a:r>
            <a:r>
              <a:rPr lang="en-US" dirty="0" smtClean="0"/>
              <a:t> </a:t>
            </a:r>
            <a:r>
              <a:rPr lang="en-US" dirty="0" err="1" smtClean="0"/>
              <a:t>Aleatorizado</a:t>
            </a:r>
            <a:endParaRPr lang="en-US" dirty="0" smtClean="0"/>
          </a:p>
          <a:p>
            <a:pPr lvl="1">
              <a:defRPr/>
            </a:pPr>
            <a:r>
              <a:rPr lang="en-US" dirty="0"/>
              <a:t>A </a:t>
            </a:r>
            <a:r>
              <a:rPr lang="en-US" b="1" dirty="0" err="1"/>
              <a:t>qualidade</a:t>
            </a:r>
            <a:r>
              <a:rPr lang="en-US" dirty="0"/>
              <a:t> da </a:t>
            </a:r>
            <a:r>
              <a:rPr lang="en-US" dirty="0" err="1"/>
              <a:t>solução</a:t>
            </a:r>
            <a:r>
              <a:rPr lang="en-US" dirty="0"/>
              <a:t> </a:t>
            </a:r>
            <a:r>
              <a:rPr lang="en-US" dirty="0" err="1"/>
              <a:t>obtida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da </a:t>
            </a:r>
            <a:r>
              <a:rPr lang="en-US" dirty="0" err="1"/>
              <a:t>qualidade</a:t>
            </a:r>
            <a:r>
              <a:rPr lang="en-US" dirty="0"/>
              <a:t> dos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de </a:t>
            </a:r>
            <a:r>
              <a:rPr lang="en-US" dirty="0" err="1" smtClean="0"/>
              <a:t>candidatos</a:t>
            </a:r>
            <a:endParaRPr lang="en-US" dirty="0"/>
          </a:p>
          <a:p>
            <a:pPr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A </a:t>
            </a:r>
            <a:r>
              <a:rPr lang="en-US" b="1" dirty="0" err="1"/>
              <a:t>diversidade</a:t>
            </a:r>
            <a:r>
              <a:rPr lang="en-US" dirty="0"/>
              <a:t> das </a:t>
            </a:r>
            <a:r>
              <a:rPr lang="en-US" dirty="0" err="1"/>
              <a:t>soluções</a:t>
            </a:r>
            <a:r>
              <a:rPr lang="en-US" dirty="0"/>
              <a:t> </a:t>
            </a:r>
            <a:r>
              <a:rPr lang="en-US" dirty="0" err="1"/>
              <a:t>encontradas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da </a:t>
            </a:r>
            <a:r>
              <a:rPr lang="en-US" dirty="0" err="1"/>
              <a:t>cardinalidade</a:t>
            </a:r>
            <a:r>
              <a:rPr lang="en-US" dirty="0"/>
              <a:t> da </a:t>
            </a:r>
            <a:r>
              <a:rPr lang="en-US" dirty="0" err="1" smtClean="0"/>
              <a:t>lista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83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Guloso</a:t>
            </a:r>
            <a:r>
              <a:rPr lang="en-US" dirty="0" smtClean="0"/>
              <a:t> </a:t>
            </a:r>
            <a:r>
              <a:rPr lang="en-US" dirty="0" err="1" smtClean="0"/>
              <a:t>Aleatorizado</a:t>
            </a:r>
            <a:endParaRPr lang="en-US" dirty="0" smtClean="0"/>
          </a:p>
          <a:p>
            <a:pPr lvl="1">
              <a:defRPr/>
            </a:pP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extremos</a:t>
            </a:r>
            <a:r>
              <a:rPr lang="en-US" dirty="0"/>
              <a:t>:</a:t>
            </a:r>
          </a:p>
          <a:p>
            <a:pPr lvl="2">
              <a:defRPr/>
            </a:pP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guloso</a:t>
            </a:r>
            <a:r>
              <a:rPr lang="en-US" dirty="0"/>
              <a:t> </a:t>
            </a:r>
            <a:r>
              <a:rPr lang="en-US" dirty="0" err="1"/>
              <a:t>puro</a:t>
            </a:r>
            <a:endParaRPr lang="en-US" dirty="0"/>
          </a:p>
          <a:p>
            <a:pPr lvl="2">
              <a:defRPr/>
            </a:pPr>
            <a:r>
              <a:rPr lang="en-US" dirty="0" err="1"/>
              <a:t>solução</a:t>
            </a:r>
            <a:r>
              <a:rPr lang="en-US" dirty="0"/>
              <a:t> </a:t>
            </a:r>
            <a:r>
              <a:rPr lang="en-US" dirty="0" err="1"/>
              <a:t>gerada</a:t>
            </a:r>
            <a:r>
              <a:rPr lang="en-US" dirty="0"/>
              <a:t> </a:t>
            </a:r>
            <a:r>
              <a:rPr lang="en-US" dirty="0" err="1"/>
              <a:t>aleatoriamente</a:t>
            </a:r>
            <a:endParaRPr lang="en-US" dirty="0"/>
          </a:p>
          <a:p>
            <a:pPr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530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Guloso</a:t>
            </a:r>
            <a:r>
              <a:rPr lang="en-US" dirty="0" smtClean="0"/>
              <a:t> </a:t>
            </a:r>
            <a:r>
              <a:rPr lang="en-US" dirty="0" err="1" smtClean="0"/>
              <a:t>Aleatorizado</a:t>
            </a:r>
            <a:endParaRPr lang="en-US" dirty="0" smtClean="0"/>
          </a:p>
          <a:p>
            <a:pPr lvl="1"/>
            <a:r>
              <a:rPr lang="en-US" dirty="0" smtClean="0"/>
              <a:t>Na </a:t>
            </a:r>
            <a:r>
              <a:rPr lang="en-US" dirty="0" err="1" smtClean="0"/>
              <a:t>estrat</a:t>
            </a:r>
            <a:r>
              <a:rPr lang="en-US" dirty="0" err="1" smtClean="0"/>
              <a:t>égia</a:t>
            </a:r>
            <a:r>
              <a:rPr lang="en-US" dirty="0" smtClean="0"/>
              <a:t> </a:t>
            </a:r>
            <a:r>
              <a:rPr lang="en-US" dirty="0" err="1" smtClean="0"/>
              <a:t>gulosa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</a:t>
            </a:r>
            <a:r>
              <a:rPr lang="en-US" dirty="0" err="1" smtClean="0"/>
              <a:t>candidatos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classificados</a:t>
            </a:r>
            <a:r>
              <a:rPr lang="en-US" dirty="0" smtClean="0"/>
              <a:t> </a:t>
            </a:r>
            <a:r>
              <a:rPr lang="en-US" dirty="0" err="1" smtClean="0"/>
              <a:t>segundo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heurística</a:t>
            </a:r>
            <a:r>
              <a:rPr lang="en-US" dirty="0" smtClean="0"/>
              <a:t> </a:t>
            </a:r>
            <a:r>
              <a:rPr lang="en-US" dirty="0" err="1" smtClean="0"/>
              <a:t>gulosa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No </a:t>
            </a:r>
            <a:r>
              <a:rPr lang="en-US" dirty="0" err="1" smtClean="0"/>
              <a:t>guloso</a:t>
            </a:r>
            <a:r>
              <a:rPr lang="en-US" dirty="0" smtClean="0"/>
              <a:t> </a:t>
            </a:r>
            <a:r>
              <a:rPr lang="en-US" dirty="0" err="1" smtClean="0"/>
              <a:t>aleatorizado</a:t>
            </a:r>
            <a:r>
              <a:rPr lang="en-US" dirty="0" smtClean="0"/>
              <a:t> um </a:t>
            </a:r>
            <a:r>
              <a:rPr lang="en-US" dirty="0" err="1" smtClean="0"/>
              <a:t>subconjuntos</a:t>
            </a:r>
            <a:r>
              <a:rPr lang="en-US" dirty="0" smtClean="0"/>
              <a:t> dos </a:t>
            </a:r>
            <a:r>
              <a:rPr lang="en-US" dirty="0" err="1" smtClean="0"/>
              <a:t>melhores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inseridos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b="1" dirty="0" err="1" smtClean="0"/>
              <a:t>lista</a:t>
            </a:r>
            <a:r>
              <a:rPr lang="en-US" b="1" dirty="0" smtClean="0"/>
              <a:t> </a:t>
            </a:r>
            <a:r>
              <a:rPr lang="en-US" b="1" dirty="0" err="1" smtClean="0"/>
              <a:t>restrita</a:t>
            </a:r>
            <a:r>
              <a:rPr lang="en-US" b="1" dirty="0" smtClean="0"/>
              <a:t> de </a:t>
            </a:r>
            <a:r>
              <a:rPr lang="en-US" b="1" dirty="0" err="1" smtClean="0"/>
              <a:t>candidatos</a:t>
            </a:r>
            <a:r>
              <a:rPr lang="en-US" b="1" dirty="0" smtClean="0"/>
              <a:t> - LRC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Para </a:t>
            </a:r>
            <a:r>
              <a:rPr lang="en-US" dirty="0" err="1" smtClean="0"/>
              <a:t>determinar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a </a:t>
            </a:r>
            <a:r>
              <a:rPr lang="en-US" dirty="0" err="1" smtClean="0"/>
              <a:t>serem</a:t>
            </a:r>
            <a:r>
              <a:rPr lang="en-US" dirty="0" smtClean="0"/>
              <a:t> </a:t>
            </a:r>
            <a:r>
              <a:rPr lang="en-US" dirty="0" err="1" smtClean="0"/>
              <a:t>inseridos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LRC </a:t>
            </a:r>
            <a:r>
              <a:rPr lang="en-US" dirty="0" err="1" smtClean="0"/>
              <a:t>pode</a:t>
            </a:r>
            <a:r>
              <a:rPr lang="en-US" dirty="0" smtClean="0"/>
              <a:t>-se </a:t>
            </a:r>
            <a:r>
              <a:rPr lang="en-US" dirty="0" err="1" smtClean="0"/>
              <a:t>considerar</a:t>
            </a:r>
            <a:r>
              <a:rPr lang="en-US" dirty="0" smtClean="0"/>
              <a:t> </a:t>
            </a:r>
            <a:r>
              <a:rPr lang="en-US" i="1" dirty="0" err="1" smtClean="0"/>
              <a:t>Qualidade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i="1" dirty="0" err="1" smtClean="0"/>
              <a:t>Quantidade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830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 smtClean="0"/>
              <a:t>Guloso</a:t>
            </a:r>
            <a:r>
              <a:rPr lang="en-US" dirty="0" smtClean="0"/>
              <a:t> </a:t>
            </a:r>
            <a:r>
              <a:rPr lang="en-US" dirty="0" err="1" smtClean="0"/>
              <a:t>Aleatorizado</a:t>
            </a:r>
            <a:endParaRPr lang="en-US" dirty="0" smtClean="0"/>
          </a:p>
          <a:p>
            <a:pPr lvl="1"/>
            <a:r>
              <a:rPr lang="en-US" i="1" dirty="0" err="1" smtClean="0"/>
              <a:t>Qualidade</a:t>
            </a:r>
            <a:r>
              <a:rPr lang="en-US" dirty="0" smtClean="0"/>
              <a:t> </a:t>
            </a:r>
          </a:p>
          <a:p>
            <a:pPr lvl="2"/>
            <a:r>
              <a:rPr lang="en-US" dirty="0" err="1" smtClean="0"/>
              <a:t>Parâmetro</a:t>
            </a:r>
            <a:r>
              <a:rPr lang="en-US" dirty="0" smtClean="0"/>
              <a:t> </a:t>
            </a:r>
            <a:r>
              <a:rPr lang="en-US" i="1" dirty="0" smtClean="0"/>
              <a:t>p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representa</a:t>
            </a:r>
            <a:r>
              <a:rPr lang="en-US" dirty="0" smtClean="0"/>
              <a:t> </a:t>
            </a:r>
            <a:r>
              <a:rPr lang="en-US" dirty="0" err="1" smtClean="0"/>
              <a:t>número</a:t>
            </a:r>
            <a:r>
              <a:rPr lang="en-US" dirty="0" smtClean="0"/>
              <a:t> </a:t>
            </a:r>
            <a:r>
              <a:rPr lang="en-US" dirty="0" err="1" smtClean="0"/>
              <a:t>máximo</a:t>
            </a:r>
            <a:r>
              <a:rPr lang="en-US" dirty="0" smtClean="0"/>
              <a:t> de </a:t>
            </a:r>
            <a:r>
              <a:rPr lang="en-US" dirty="0" err="1" smtClean="0"/>
              <a:t>elementos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LRC</a:t>
            </a:r>
          </a:p>
          <a:p>
            <a:pPr lvl="2"/>
            <a:r>
              <a:rPr lang="en-US" i="1" dirty="0" smtClean="0"/>
              <a:t>p</a:t>
            </a:r>
            <a:r>
              <a:rPr lang="en-US" dirty="0" smtClean="0"/>
              <a:t> </a:t>
            </a:r>
            <a:r>
              <a:rPr lang="en-US" dirty="0" err="1" smtClean="0"/>
              <a:t>melhores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inseridos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LRC</a:t>
            </a:r>
          </a:p>
          <a:p>
            <a:pPr lvl="1"/>
            <a:r>
              <a:rPr lang="en-US" i="1" dirty="0" err="1" smtClean="0"/>
              <a:t>Quantidade</a:t>
            </a:r>
            <a:endParaRPr lang="en-US" dirty="0" smtClean="0"/>
          </a:p>
          <a:p>
            <a:pPr lvl="2"/>
            <a:r>
              <a:rPr lang="en-US" dirty="0" smtClean="0"/>
              <a:t>Para </a:t>
            </a:r>
            <a:r>
              <a:rPr lang="en-US" dirty="0" err="1" smtClean="0"/>
              <a:t>ser</a:t>
            </a:r>
            <a:r>
              <a:rPr lang="en-US" dirty="0" smtClean="0"/>
              <a:t> </a:t>
            </a:r>
            <a:r>
              <a:rPr lang="en-US" dirty="0" err="1" smtClean="0"/>
              <a:t>incluído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lista</a:t>
            </a:r>
            <a:r>
              <a:rPr lang="en-US" dirty="0" smtClean="0"/>
              <a:t>, </a:t>
            </a:r>
            <a:r>
              <a:rPr lang="en-US" dirty="0" err="1" smtClean="0"/>
              <a:t>verifica</a:t>
            </a:r>
            <a:r>
              <a:rPr lang="en-US" dirty="0" smtClean="0"/>
              <a:t>-se </a:t>
            </a:r>
            <a:r>
              <a:rPr lang="en-US" dirty="0" err="1" smtClean="0"/>
              <a:t>qualidade</a:t>
            </a:r>
            <a:r>
              <a:rPr lang="en-US" dirty="0" smtClean="0"/>
              <a:t> do </a:t>
            </a:r>
            <a:r>
              <a:rPr lang="en-US" dirty="0" err="1" smtClean="0"/>
              <a:t>candidato</a:t>
            </a:r>
            <a:r>
              <a:rPr lang="en-US" dirty="0" smtClean="0"/>
              <a:t>.</a:t>
            </a:r>
          </a:p>
          <a:p>
            <a:pPr lvl="2"/>
            <a:r>
              <a:rPr lang="en-US" dirty="0" err="1" smtClean="0"/>
              <a:t>Considerando</a:t>
            </a:r>
            <a:r>
              <a:rPr lang="en-US" dirty="0" smtClean="0"/>
              <a:t> </a:t>
            </a:r>
            <a:r>
              <a:rPr lang="en-US" dirty="0" err="1" smtClean="0"/>
              <a:t>c_max</a:t>
            </a:r>
            <a:r>
              <a:rPr lang="en-US" dirty="0" smtClean="0"/>
              <a:t> e </a:t>
            </a:r>
            <a:r>
              <a:rPr lang="en-US" dirty="0" err="1" smtClean="0"/>
              <a:t>c_min</a:t>
            </a:r>
            <a:r>
              <a:rPr lang="en-US" dirty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valores</a:t>
            </a:r>
            <a:r>
              <a:rPr lang="en-US" dirty="0" smtClean="0"/>
              <a:t> </a:t>
            </a:r>
            <a:r>
              <a:rPr lang="en-US" dirty="0" err="1" smtClean="0"/>
              <a:t>máximo</a:t>
            </a:r>
            <a:r>
              <a:rPr lang="en-US" dirty="0" smtClean="0"/>
              <a:t> e </a:t>
            </a:r>
            <a:r>
              <a:rPr lang="en-US" dirty="0" err="1" smtClean="0"/>
              <a:t>mínimo</a:t>
            </a:r>
            <a:r>
              <a:rPr lang="en-US" dirty="0" smtClean="0"/>
              <a:t> </a:t>
            </a:r>
            <a:r>
              <a:rPr lang="en-US" dirty="0" err="1" smtClean="0"/>
              <a:t>associado</a:t>
            </a:r>
            <a:r>
              <a:rPr lang="en-US" dirty="0" smtClean="0"/>
              <a:t> </a:t>
            </a:r>
            <a:r>
              <a:rPr lang="en-US" dirty="0" err="1" smtClean="0"/>
              <a:t>aos</a:t>
            </a:r>
            <a:r>
              <a:rPr lang="en-US" dirty="0" smtClean="0"/>
              <a:t> </a:t>
            </a:r>
            <a:r>
              <a:rPr lang="en-US" dirty="0" err="1" smtClean="0"/>
              <a:t>candidatos</a:t>
            </a:r>
            <a:r>
              <a:rPr lang="en-US" dirty="0" smtClean="0"/>
              <a:t>, o </a:t>
            </a:r>
            <a:r>
              <a:rPr lang="en-US" dirty="0" err="1" smtClean="0"/>
              <a:t>limite</a:t>
            </a:r>
            <a:r>
              <a:rPr lang="en-US" dirty="0" smtClean="0"/>
              <a:t> </a:t>
            </a:r>
            <a:r>
              <a:rPr lang="en-US" dirty="0" err="1" smtClean="0"/>
              <a:t>pode</a:t>
            </a:r>
            <a:r>
              <a:rPr lang="en-US" dirty="0" smtClean="0"/>
              <a:t>  </a:t>
            </a:r>
            <a:r>
              <a:rPr lang="en-US" dirty="0" err="1" smtClean="0"/>
              <a:t>ser</a:t>
            </a:r>
            <a:r>
              <a:rPr lang="en-US" dirty="0" smtClean="0"/>
              <a:t> </a:t>
            </a:r>
            <a:r>
              <a:rPr lang="en-US" dirty="0" err="1" smtClean="0"/>
              <a:t>definido</a:t>
            </a:r>
            <a:r>
              <a:rPr lang="en-US" dirty="0" smtClean="0"/>
              <a:t> </a:t>
            </a:r>
            <a:r>
              <a:rPr lang="en-US" dirty="0" err="1" smtClean="0"/>
              <a:t>como</a:t>
            </a:r>
            <a:r>
              <a:rPr lang="en-US" dirty="0" smtClean="0"/>
              <a:t>:</a:t>
            </a:r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</a:p>
          <a:p>
            <a:pPr lvl="1"/>
            <a:endParaRPr lang="en-US" dirty="0" smtClean="0"/>
          </a:p>
          <a:p>
            <a:pPr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566" y="5381824"/>
            <a:ext cx="4297913" cy="6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93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36" y="2069748"/>
            <a:ext cx="7066921" cy="324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324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Construtivos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Estrat</a:t>
            </a:r>
            <a:r>
              <a:rPr lang="en-US" dirty="0" err="1" smtClean="0"/>
              <a:t>égia</a:t>
            </a:r>
            <a:r>
              <a:rPr lang="en-US" dirty="0" smtClean="0"/>
              <a:t> </a:t>
            </a:r>
            <a:r>
              <a:rPr lang="en-US" dirty="0" err="1" smtClean="0"/>
              <a:t>Reativa</a:t>
            </a:r>
            <a:endParaRPr lang="en-US" dirty="0" smtClean="0"/>
          </a:p>
          <a:p>
            <a:pPr lvl="1"/>
            <a:r>
              <a:rPr lang="en-US" dirty="0" err="1" smtClean="0"/>
              <a:t>Estrat</a:t>
            </a:r>
            <a:r>
              <a:rPr lang="en-US" dirty="0" err="1" smtClean="0"/>
              <a:t>égia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ajuste</a:t>
            </a:r>
            <a:r>
              <a:rPr lang="en-US" dirty="0" smtClean="0"/>
              <a:t> de </a:t>
            </a:r>
            <a:r>
              <a:rPr lang="en-US" dirty="0" err="1" smtClean="0"/>
              <a:t>parâmetro</a:t>
            </a:r>
            <a:r>
              <a:rPr lang="en-US" dirty="0" smtClean="0"/>
              <a:t> (</a:t>
            </a:r>
            <a:r>
              <a:rPr lang="en-US" dirty="0" err="1" smtClean="0"/>
              <a:t>grau</a:t>
            </a:r>
            <a:r>
              <a:rPr lang="en-US" dirty="0" smtClean="0"/>
              <a:t> de </a:t>
            </a:r>
            <a:r>
              <a:rPr lang="en-US" dirty="0" err="1" smtClean="0"/>
              <a:t>aleatoriedade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640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Dúvidas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Perguntas ou comentários?</a:t>
            </a:r>
            <a:endParaRPr lang="pt-BR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7554" y="2571744"/>
            <a:ext cx="2160240" cy="2884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ângulo 4"/>
          <p:cNvSpPr/>
          <p:nvPr/>
        </p:nvSpPr>
        <p:spPr>
          <a:xfrm>
            <a:off x="6000760" y="5143512"/>
            <a:ext cx="2745302" cy="7017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pt-BR" dirty="0" smtClean="0">
                <a:solidFill>
                  <a:schemeClr val="bg1">
                    <a:lumMod val="50000"/>
                  </a:schemeClr>
                </a:solidFill>
              </a:rPr>
              <a:t>Luciana Brugiolo Gonçalves</a:t>
            </a:r>
          </a:p>
          <a:p>
            <a:pPr lvl="0" algn="ctr">
              <a:spcBef>
                <a:spcPct val="20000"/>
              </a:spcBef>
              <a:defRPr/>
            </a:pPr>
            <a:r>
              <a:rPr lang="pt-BR" dirty="0" err="1" smtClean="0"/>
              <a:t>lbrugiolo@ice.ufjf.br</a:t>
            </a:r>
            <a:endParaRPr lang="pt-BR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8581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EL-GHAZALI TALBI. </a:t>
            </a:r>
            <a:r>
              <a:rPr lang="en-US" dirty="0" err="1" smtClean="0"/>
              <a:t>Metaheuristics</a:t>
            </a:r>
            <a:r>
              <a:rPr lang="en-US" dirty="0" smtClean="0"/>
              <a:t>: From Design to Implementation, Wiley, </a:t>
            </a:r>
            <a:r>
              <a:rPr lang="en-US" dirty="0" smtClean="0"/>
              <a:t>2009.</a:t>
            </a:r>
            <a:endParaRPr lang="en-US" dirty="0" smtClean="0"/>
          </a:p>
          <a:p>
            <a:r>
              <a:rPr lang="en-US" dirty="0" err="1" smtClean="0"/>
              <a:t>Notas</a:t>
            </a:r>
            <a:r>
              <a:rPr lang="en-US" dirty="0" smtClean="0"/>
              <a:t> de aula do prof </a:t>
            </a:r>
            <a:r>
              <a:rPr lang="en-US" dirty="0" err="1" smtClean="0"/>
              <a:t>Celso</a:t>
            </a:r>
            <a:r>
              <a:rPr lang="en-US" dirty="0" smtClean="0"/>
              <a:t> </a:t>
            </a:r>
            <a:r>
              <a:rPr lang="en-US" dirty="0" err="1" smtClean="0"/>
              <a:t>Ribeiro</a:t>
            </a:r>
            <a:r>
              <a:rPr lang="en-US" dirty="0" smtClean="0"/>
              <a:t> (UFF)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Notas</a:t>
            </a:r>
            <a:r>
              <a:rPr lang="en-US" dirty="0" smtClean="0"/>
              <a:t> do prof. </a:t>
            </a:r>
            <a:r>
              <a:rPr lang="en-US" dirty="0" err="1" smtClean="0"/>
              <a:t>Maur</a:t>
            </a:r>
            <a:r>
              <a:rPr lang="en-US" dirty="0" err="1" smtClean="0"/>
              <a:t>ício</a:t>
            </a:r>
            <a:r>
              <a:rPr lang="en-US" dirty="0" smtClean="0"/>
              <a:t> </a:t>
            </a:r>
            <a:r>
              <a:rPr lang="en-US" dirty="0" err="1" smtClean="0"/>
              <a:t>Resende</a:t>
            </a:r>
            <a:r>
              <a:rPr lang="en-US" dirty="0" smtClean="0"/>
              <a:t> (AT&amp;T).</a:t>
            </a:r>
            <a:endParaRPr lang="en-US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330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TRABALHO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TRABALHO 1 (</a:t>
            </a:r>
            <a:r>
              <a:rPr lang="en-US" dirty="0" err="1" smtClean="0"/>
              <a:t>continuação</a:t>
            </a:r>
            <a:r>
              <a:rPr lang="en-US" dirty="0" smtClean="0"/>
              <a:t>):</a:t>
            </a:r>
          </a:p>
          <a:p>
            <a:pPr lvl="1"/>
            <a:r>
              <a:rPr lang="en-US" dirty="0"/>
              <a:t>The capacitated team orienteering problem</a:t>
            </a:r>
          </a:p>
          <a:p>
            <a:pPr lvl="2"/>
            <a:r>
              <a:rPr lang="en-US" dirty="0" err="1" smtClean="0"/>
              <a:t>Propor</a:t>
            </a:r>
            <a:r>
              <a:rPr lang="en-US" dirty="0" smtClean="0"/>
              <a:t> </a:t>
            </a:r>
            <a:r>
              <a:rPr lang="en-US" dirty="0" smtClean="0"/>
              <a:t>um </a:t>
            </a:r>
            <a:r>
              <a:rPr lang="en-US" dirty="0" err="1" smtClean="0"/>
              <a:t>algoritmo</a:t>
            </a:r>
            <a:r>
              <a:rPr lang="en-US" dirty="0" smtClean="0"/>
              <a:t> </a:t>
            </a:r>
            <a:r>
              <a:rPr lang="en-US" dirty="0" err="1" smtClean="0"/>
              <a:t>guloso</a:t>
            </a:r>
            <a:r>
              <a:rPr lang="en-US" dirty="0" smtClean="0"/>
              <a:t> </a:t>
            </a:r>
            <a:r>
              <a:rPr lang="en-US" dirty="0" err="1" smtClean="0"/>
              <a:t>adaptativo</a:t>
            </a:r>
            <a:r>
              <a:rPr lang="en-US" dirty="0" smtClean="0"/>
              <a:t> </a:t>
            </a:r>
            <a:r>
              <a:rPr lang="en-US" dirty="0" err="1" smtClean="0"/>
              <a:t>aleatorizado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o </a:t>
            </a:r>
            <a:r>
              <a:rPr lang="en-US" dirty="0" smtClean="0"/>
              <a:t>CTOP.</a:t>
            </a:r>
          </a:p>
          <a:p>
            <a:pPr lvl="2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9B13-AD60-D14B-A0BC-B16684C062F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777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2761</TotalTime>
  <Words>415</Words>
  <Application>Microsoft Macintosh PowerPoint</Application>
  <PresentationFormat>On-screen Show (4:3)</PresentationFormat>
  <Paragraphs>91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 - DCC136 - Algoritmos Construtivos</vt:lpstr>
      <vt:lpstr>Conceitos Comuns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Métodos Construtivos</vt:lpstr>
      <vt:lpstr>Dúvidas</vt:lpstr>
      <vt:lpstr>Referências</vt:lpstr>
      <vt:lpstr>TRABALHO</vt:lpstr>
    </vt:vector>
  </TitlesOfParts>
  <Company>UFV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Luciana Brugiolo Gonçalves</dc:creator>
  <cp:lastModifiedBy>Luciana Brugiolo Gonçalves</cp:lastModifiedBy>
  <cp:revision>60</cp:revision>
  <dcterms:created xsi:type="dcterms:W3CDTF">2014-08-19T22:02:41Z</dcterms:created>
  <dcterms:modified xsi:type="dcterms:W3CDTF">2014-09-01T16:49:45Z</dcterms:modified>
</cp:coreProperties>
</file>