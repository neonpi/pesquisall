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305" r:id="rId3"/>
    <p:sldId id="306" r:id="rId4"/>
    <p:sldId id="323" r:id="rId5"/>
    <p:sldId id="308" r:id="rId6"/>
    <p:sldId id="328" r:id="rId7"/>
    <p:sldId id="324" r:id="rId8"/>
    <p:sldId id="309" r:id="rId9"/>
    <p:sldId id="329" r:id="rId10"/>
    <p:sldId id="330" r:id="rId11"/>
    <p:sldId id="331" r:id="rId12"/>
    <p:sldId id="310" r:id="rId13"/>
    <p:sldId id="311" r:id="rId14"/>
    <p:sldId id="312" r:id="rId15"/>
    <p:sldId id="347" r:id="rId16"/>
    <p:sldId id="314" r:id="rId17"/>
    <p:sldId id="325" r:id="rId18"/>
    <p:sldId id="332" r:id="rId19"/>
    <p:sldId id="333" r:id="rId20"/>
    <p:sldId id="334" r:id="rId21"/>
    <p:sldId id="335" r:id="rId22"/>
    <p:sldId id="336" r:id="rId23"/>
    <p:sldId id="337" r:id="rId24"/>
    <p:sldId id="338" r:id="rId25"/>
    <p:sldId id="313" r:id="rId26"/>
    <p:sldId id="339" r:id="rId27"/>
    <p:sldId id="340" r:id="rId28"/>
    <p:sldId id="341" r:id="rId29"/>
    <p:sldId id="342" r:id="rId30"/>
    <p:sldId id="343" r:id="rId31"/>
    <p:sldId id="344" r:id="rId32"/>
    <p:sldId id="345" r:id="rId33"/>
    <p:sldId id="346" r:id="rId34"/>
    <p:sldId id="326" r:id="rId35"/>
    <p:sldId id="348" r:id="rId36"/>
    <p:sldId id="349" r:id="rId37"/>
    <p:sldId id="304" r:id="rId38"/>
    <p:sldId id="322" r:id="rId39"/>
    <p:sldId id="274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0"/>
    <p:restoredTop sz="92511" autoAdjust="0"/>
  </p:normalViewPr>
  <p:slideViewPr>
    <p:cSldViewPr snapToGrid="0" snapToObjects="1">
      <p:cViewPr varScale="1">
        <p:scale>
          <a:sx n="99" d="100"/>
          <a:sy n="99" d="100"/>
        </p:scale>
        <p:origin x="175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A55C1-C5C6-3049-9971-CDA591A54CB8}" type="datetimeFigureOut">
              <a:rPr lang="en-US" smtClean="0"/>
              <a:t>5/3/22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D5BE33-C52C-484B-8B28-DE4B9883E5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933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74E2E0-971D-2E41-829D-C871A857D5C6}" type="datetimeFigureOut">
              <a:rPr lang="en-US" smtClean="0"/>
              <a:t>5/3/22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0520DE-4DE4-E34A-8599-269930113AD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04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98CC46-B108-DE49-BEAE-DB2FAFC1E934}" type="slidenum">
              <a:rPr lang="en-US"/>
              <a:pPr/>
              <a:t>18</a:t>
            </a:fld>
            <a:endParaRPr lang="en-US"/>
          </a:p>
        </p:txBody>
      </p:sp>
      <p:sp>
        <p:nvSpPr>
          <p:cNvPr id="293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24505B-387B-F74F-A04B-DFF0A3CFC843}" type="slidenum">
              <a:rPr lang="en-US"/>
              <a:pPr/>
              <a:t>19</a:t>
            </a:fld>
            <a:endParaRPr lang="en-US"/>
          </a:p>
        </p:txBody>
      </p:sp>
      <p:sp>
        <p:nvSpPr>
          <p:cNvPr id="294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94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A3BAE4-0632-DD43-B887-18E224DEEF1A}" type="slidenum">
              <a:rPr lang="en-US"/>
              <a:pPr/>
              <a:t>20</a:t>
            </a:fld>
            <a:endParaRPr lang="en-US"/>
          </a:p>
        </p:txBody>
      </p:sp>
      <p:sp>
        <p:nvSpPr>
          <p:cNvPr id="295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95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D56D09-22F1-EF49-8B37-0C70B2173F1A}" type="slidenum">
              <a:rPr lang="en-US"/>
              <a:pPr/>
              <a:t>21</a:t>
            </a:fld>
            <a:endParaRPr lang="en-US"/>
          </a:p>
        </p:txBody>
      </p:sp>
      <p:sp>
        <p:nvSpPr>
          <p:cNvPr id="296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82FD2B-661E-D041-BAC7-7D0D3F198C3F}" type="slidenum">
              <a:rPr lang="en-US"/>
              <a:pPr/>
              <a:t>22</a:t>
            </a:fld>
            <a:endParaRPr lang="en-US"/>
          </a:p>
        </p:txBody>
      </p:sp>
      <p:sp>
        <p:nvSpPr>
          <p:cNvPr id="297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524934-6F44-894F-801D-603F9D54CD17}" type="slidenum">
              <a:rPr lang="en-US"/>
              <a:pPr/>
              <a:t>23</a:t>
            </a:fld>
            <a:endParaRPr lang="en-US"/>
          </a:p>
        </p:txBody>
      </p:sp>
      <p:sp>
        <p:nvSpPr>
          <p:cNvPr id="299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042A7D-F145-234D-BB32-E23E248CD4CD}" type="slidenum">
              <a:rPr lang="en-US"/>
              <a:pPr/>
              <a:t>26</a:t>
            </a:fld>
            <a:endParaRPr lang="en-US"/>
          </a:p>
        </p:txBody>
      </p:sp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7FC732-B846-D445-92F4-058D8CB6FFA4}" type="slidenum">
              <a:rPr lang="en-US"/>
              <a:pPr/>
              <a:t>27</a:t>
            </a:fld>
            <a:endParaRPr lang="en-US"/>
          </a:p>
        </p:txBody>
      </p:sp>
      <p:sp>
        <p:nvSpPr>
          <p:cNvPr id="302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50BA71-4D3B-EE47-87EC-41567C089F1D}" type="slidenum">
              <a:rPr lang="en-US"/>
              <a:pPr/>
              <a:t>28</a:t>
            </a:fld>
            <a:endParaRPr lang="en-US"/>
          </a:p>
        </p:txBody>
      </p:sp>
      <p:sp>
        <p:nvSpPr>
          <p:cNvPr id="303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3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3FE226-D87C-FC40-AB4A-FE0AE101A47C}" type="slidenum">
              <a:rPr lang="en-US"/>
              <a:pPr/>
              <a:t>29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DFB452-A787-4042-ABDD-EBF794B39371}" type="slidenum">
              <a:rPr lang="en-US"/>
              <a:pPr/>
              <a:t>30</a:t>
            </a:fld>
            <a:endParaRPr lang="en-US"/>
          </a:p>
        </p:txBody>
      </p:sp>
      <p:sp>
        <p:nvSpPr>
          <p:cNvPr id="305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5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835ABB-6296-F64E-9E0F-B3D382FA861C}" type="slidenum">
              <a:rPr lang="en-US"/>
              <a:pPr/>
              <a:t>31</a:t>
            </a:fld>
            <a:endParaRPr lang="en-US"/>
          </a:p>
        </p:txBody>
      </p:sp>
      <p:sp>
        <p:nvSpPr>
          <p:cNvPr id="30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B0C9B0-66B5-B341-9FA4-F1EB265E4EDE}" type="slidenum">
              <a:rPr lang="en-US"/>
              <a:pPr/>
              <a:t>32</a:t>
            </a:fld>
            <a:endParaRPr lang="en-US"/>
          </a:p>
        </p:txBody>
      </p:sp>
      <p:sp>
        <p:nvSpPr>
          <p:cNvPr id="30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4A1AB89-24C6-6749-A736-FF380A6E9C9E}" type="datetime1">
              <a:rPr lang="pt-BR" smtClean="0"/>
              <a:t>03/05/2022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6100" y="6356350"/>
            <a:ext cx="7581274" cy="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17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ACAC76F-94B0-7D45-9ED8-9E5313C97F20}" type="datetime1">
              <a:rPr lang="pt-BR" smtClean="0"/>
              <a:t>03/05/2022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6100" y="6356350"/>
            <a:ext cx="7581274" cy="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65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A835123-FA02-9B4C-8834-6DE0F4C11372}" type="datetime1">
              <a:rPr lang="pt-BR" smtClean="0"/>
              <a:t>03/05/2022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6100" y="6356350"/>
            <a:ext cx="7581274" cy="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1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D9CD699-8B00-B345-990F-6BF9D07F8BFF}" type="datetime1">
              <a:rPr lang="pt-BR" smtClean="0"/>
              <a:t>03/05/2022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6100" y="6356350"/>
            <a:ext cx="7581274" cy="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625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CB35CB7-8D6A-A246-941D-FE5A9DF41390}" type="datetime1">
              <a:rPr lang="pt-BR" smtClean="0"/>
              <a:t>03/05/2022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26100" y="6356350"/>
            <a:ext cx="7581274" cy="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157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82C9644-E2DE-5E4E-81FD-3487FBF5DA3D}" type="datetime1">
              <a:rPr lang="pt-BR" smtClean="0"/>
              <a:t>03/05/2022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26100" y="6356350"/>
            <a:ext cx="7581274" cy="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2C15934-E9CA-F441-9D71-2BB136CEE4FB}" type="datetime1">
              <a:rPr lang="pt-BR" smtClean="0"/>
              <a:t>03/05/2022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26100" y="6356350"/>
            <a:ext cx="7581274" cy="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81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FB9269F-FA9A-7948-9D36-280B95172D37}" type="datetime1">
              <a:rPr lang="pt-BR" smtClean="0"/>
              <a:t>03/05/2022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6100" y="6356350"/>
            <a:ext cx="7581274" cy="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95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5F8FE8A-A2DB-3E4A-9982-D27043DC2520}" type="datetime1">
              <a:rPr lang="pt-BR" smtClean="0"/>
              <a:t>03/05/2022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6100" y="6356350"/>
            <a:ext cx="7581274" cy="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73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C84DAC8-F683-0A49-AD28-FBFB0F49D008}" type="datetime1">
              <a:rPr lang="pt-BR" smtClean="0"/>
              <a:t>03/05/2022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6100" y="6356350"/>
            <a:ext cx="7581274" cy="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9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1108E0D-248B-A14A-AF46-F995BD82164E}" type="datetime1">
              <a:rPr lang="pt-BR" smtClean="0"/>
              <a:t>03/05/2022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6100" y="6356350"/>
            <a:ext cx="7581274" cy="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04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3575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575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7374" y="6356350"/>
            <a:ext cx="479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19B13-AD60-D14B-A0BC-B16684C062FA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 rot="16200000">
            <a:off x="-3115951" y="3115950"/>
            <a:ext cx="6858000" cy="626099"/>
          </a:xfrm>
          <a:prstGeom prst="rect">
            <a:avLst/>
          </a:prstGeom>
          <a:solidFill>
            <a:srgbClr val="80808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 Rounded MT Bold"/>
                <a:cs typeface="Arial Rounded MT Bold"/>
              </a:rPr>
              <a:t>DCC136 – INTELIGÊNCIA COMPUTACIOAL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26099" y="1417638"/>
            <a:ext cx="851790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626099" y="6126163"/>
            <a:ext cx="851790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20749" y="6308899"/>
            <a:ext cx="603251" cy="435455"/>
          </a:xfrm>
          <a:prstGeom prst="rect">
            <a:avLst/>
          </a:prstGeom>
        </p:spPr>
      </p:pic>
      <p:pic>
        <p:nvPicPr>
          <p:cNvPr id="11" name="Picture 10" descr="logo_dcc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511" y="6356350"/>
            <a:ext cx="960242" cy="422275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1016000" y="6178629"/>
            <a:ext cx="64134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LUCIANA BRUGIOLO GONÇALVES</a:t>
            </a:r>
          </a:p>
          <a:p>
            <a:pPr algn="ctr"/>
            <a:r>
              <a:rPr lang="en-US" dirty="0"/>
              <a:t>DEPARTAMENTO DE CIÊNCIA DA COMPUTAÇÃO - UFJF</a:t>
            </a:r>
          </a:p>
        </p:txBody>
      </p:sp>
    </p:spTree>
    <p:extLst>
      <p:ext uri="{BB962C8B-B14F-4D97-AF65-F5344CB8AC3E}">
        <p14:creationId xmlns:p14="http://schemas.microsoft.com/office/powerpoint/2010/main" val="119137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- DCC136 -</a:t>
            </a:r>
            <a:br>
              <a:rPr lang="en-US" dirty="0"/>
            </a:br>
            <a:r>
              <a:rPr lang="en-US" dirty="0" err="1"/>
              <a:t>Algoritmos</a:t>
            </a:r>
            <a:r>
              <a:rPr lang="en-US" dirty="0"/>
              <a:t> </a:t>
            </a:r>
            <a:r>
              <a:rPr lang="en-US" dirty="0" err="1"/>
              <a:t>Construtivos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772400" cy="175260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– </a:t>
            </a:r>
            <a:r>
              <a:rPr lang="en-US" dirty="0" err="1"/>
              <a:t>Heurísticas</a:t>
            </a:r>
            <a:r>
              <a:rPr lang="en-US" dirty="0"/>
              <a:t> de </a:t>
            </a:r>
            <a:r>
              <a:rPr lang="en-US" dirty="0" err="1"/>
              <a:t>Construção</a:t>
            </a:r>
            <a:r>
              <a:rPr lang="en-US" dirty="0"/>
              <a:t> –</a:t>
            </a:r>
          </a:p>
          <a:p>
            <a:pPr marL="457200" indent="-457200">
              <a:buFontTx/>
              <a:buChar char="-"/>
            </a:pPr>
            <a:endParaRPr lang="en-US" dirty="0"/>
          </a:p>
        </p:txBody>
      </p:sp>
      <p:pic>
        <p:nvPicPr>
          <p:cNvPr id="4" name="Picture 3" descr="logo_dcc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515" y="186383"/>
            <a:ext cx="2464302" cy="108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302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Conceitos Comuns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Roteiro</a:t>
            </a:r>
          </a:p>
          <a:p>
            <a:pPr lvl="1"/>
            <a:r>
              <a:rPr lang="pt-BR" dirty="0"/>
              <a:t>Algoritmo de Construção</a:t>
            </a:r>
            <a:endParaRPr lang="pt-BR" sz="4400" dirty="0"/>
          </a:p>
          <a:p>
            <a:pPr lvl="1"/>
            <a:r>
              <a:rPr lang="pt-BR" dirty="0"/>
              <a:t>Algoritmo Guloso</a:t>
            </a:r>
          </a:p>
          <a:p>
            <a:pPr lvl="1"/>
            <a:endParaRPr lang="pt-BR" dirty="0"/>
          </a:p>
          <a:p>
            <a:pPr lvl="1"/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Algoritmo Guloso randomizado, adaptativo, reativo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76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Métodos Construtivos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Problema de otimização combinatória</a:t>
            </a:r>
          </a:p>
          <a:p>
            <a:pPr marL="457200" lvl="1" indent="0">
              <a:buNone/>
            </a:pPr>
            <a:r>
              <a:rPr lang="pt-BR" dirty="0"/>
              <a:t>Definição 1:</a:t>
            </a:r>
          </a:p>
          <a:p>
            <a:pPr lvl="1"/>
            <a:r>
              <a:rPr lang="pt-BR" dirty="0"/>
              <a:t>Pode ser definido por um par (S,f), onde:</a:t>
            </a:r>
          </a:p>
          <a:p>
            <a:pPr lvl="1"/>
            <a:r>
              <a:rPr lang="pt-BR" dirty="0"/>
              <a:t>S representa o conjunto de soluções viáveis </a:t>
            </a:r>
          </a:p>
          <a:p>
            <a:pPr lvl="1"/>
            <a:r>
              <a:rPr lang="pt-BR" dirty="0"/>
              <a:t>f : S </a:t>
            </a:r>
            <a:r>
              <a:rPr lang="pt-BR" dirty="0">
                <a:sym typeface="Wingdings" pitchFamily="2" charset="2"/>
              </a:rPr>
              <a:t> </a:t>
            </a:r>
            <a:r>
              <a:rPr lang="pt-BR" dirty="0">
                <a:sym typeface="Symbol"/>
              </a:rPr>
              <a:t></a:t>
            </a:r>
            <a:r>
              <a:rPr lang="pt-BR" dirty="0">
                <a:sym typeface="Wingdings" pitchFamily="2" charset="2"/>
              </a:rPr>
              <a:t> a função objetivo a otimizar (função que associa a cada solução </a:t>
            </a:r>
            <a:r>
              <a:rPr lang="pt-BR" dirty="0" err="1">
                <a:sym typeface="Wingdings" pitchFamily="2" charset="2"/>
              </a:rPr>
              <a:t>s</a:t>
            </a:r>
            <a:r>
              <a:rPr lang="pt-BR" dirty="0">
                <a:sym typeface="Wingdings" pitchFamily="2" charset="2"/>
              </a:rPr>
              <a:t> </a:t>
            </a:r>
            <a:r>
              <a:rPr lang="en-US" dirty="0">
                <a:sym typeface="Symbol" charset="0"/>
              </a:rPr>
              <a:t></a:t>
            </a:r>
            <a:r>
              <a:rPr lang="pt-BR" dirty="0">
                <a:sym typeface="Wingdings" pitchFamily="2" charset="2"/>
              </a:rPr>
              <a:t> S do espaço de busca um valor real que indica seu valor, permitindo uma relação de ordem entre pares de soluções).</a:t>
            </a:r>
          </a:p>
          <a:p>
            <a:pPr lvl="1"/>
            <a:r>
              <a:rPr lang="pt-BR" dirty="0" err="1">
                <a:solidFill>
                  <a:schemeClr val="accent5">
                    <a:lumMod val="20000"/>
                    <a:lumOff val="80000"/>
                  </a:schemeClr>
                </a:solidFill>
                <a:sym typeface="Wingdings" pitchFamily="2" charset="2"/>
              </a:rPr>
              <a:t>Pag</a:t>
            </a:r>
            <a:r>
              <a:rPr lang="pt-BR" dirty="0">
                <a:solidFill>
                  <a:schemeClr val="accent5">
                    <a:lumMod val="20000"/>
                    <a:lumOff val="80000"/>
                  </a:schemeClr>
                </a:solidFill>
                <a:sym typeface="Wingdings" pitchFamily="2" charset="2"/>
              </a:rPr>
              <a:t> 3</a:t>
            </a:r>
            <a:endParaRPr lang="pt-BR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26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Métodos</a:t>
            </a:r>
            <a:r>
              <a:rPr lang="en-US" dirty="0"/>
              <a:t> </a:t>
            </a:r>
            <a:r>
              <a:rPr lang="en-US" dirty="0" err="1"/>
              <a:t>Construtivos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574" y="1600200"/>
            <a:ext cx="8480425" cy="45259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Problema</a:t>
            </a:r>
            <a:r>
              <a:rPr lang="en-US" dirty="0"/>
              <a:t> de </a:t>
            </a:r>
            <a:r>
              <a:rPr lang="en-US" dirty="0" err="1"/>
              <a:t>otimização</a:t>
            </a:r>
            <a:r>
              <a:rPr lang="en-US" dirty="0"/>
              <a:t> </a:t>
            </a:r>
            <a:r>
              <a:rPr lang="en-US" dirty="0" err="1"/>
              <a:t>combinatória</a:t>
            </a:r>
            <a:r>
              <a:rPr lang="en-US" dirty="0"/>
              <a:t>: </a:t>
            </a:r>
          </a:p>
          <a:p>
            <a:pPr marL="457200" lvl="1" indent="0">
              <a:buNone/>
              <a:defRPr/>
            </a:pPr>
            <a:r>
              <a:rPr lang="en-US" dirty="0" err="1"/>
              <a:t>Definição</a:t>
            </a:r>
            <a:r>
              <a:rPr lang="en-US" dirty="0"/>
              <a:t> 2:</a:t>
            </a:r>
          </a:p>
          <a:p>
            <a:pPr lvl="1">
              <a:defRPr/>
            </a:pPr>
            <a:r>
              <a:rPr lang="en-US" dirty="0"/>
              <a:t>Dado um </a:t>
            </a:r>
            <a:r>
              <a:rPr lang="en-US" dirty="0" err="1"/>
              <a:t>conjunto</a:t>
            </a:r>
            <a:r>
              <a:rPr lang="en-US" dirty="0"/>
              <a:t> </a:t>
            </a:r>
            <a:r>
              <a:rPr lang="en-US" dirty="0" err="1"/>
              <a:t>finito</a:t>
            </a:r>
            <a:r>
              <a:rPr lang="en-US" dirty="0"/>
              <a:t> E =  {1,2, …,n} e </a:t>
            </a:r>
          </a:p>
          <a:p>
            <a:pPr marL="457200" lvl="1" indent="0">
              <a:buNone/>
              <a:defRPr/>
            </a:pPr>
            <a:r>
              <a:rPr lang="en-US" dirty="0"/>
              <a:t>  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função</a:t>
            </a:r>
            <a:r>
              <a:rPr lang="en-US" dirty="0"/>
              <a:t> de </a:t>
            </a:r>
            <a:r>
              <a:rPr lang="en-US" dirty="0" err="1"/>
              <a:t>custo</a:t>
            </a:r>
            <a:r>
              <a:rPr lang="en-US" dirty="0"/>
              <a:t> c: 2</a:t>
            </a:r>
            <a:r>
              <a:rPr lang="en-US" baseline="30000" dirty="0"/>
              <a:t>E</a:t>
            </a:r>
            <a:r>
              <a:rPr lang="en-US" dirty="0"/>
              <a:t> </a:t>
            </a:r>
            <a:r>
              <a:rPr lang="en-US" dirty="0">
                <a:sym typeface="Symbol" charset="0"/>
              </a:rPr>
              <a:t> </a:t>
            </a:r>
            <a:r>
              <a:rPr lang="pt-BR" dirty="0">
                <a:sym typeface="Symbol"/>
              </a:rPr>
              <a:t></a:t>
            </a:r>
            <a:r>
              <a:rPr lang="en-US" dirty="0">
                <a:sym typeface="Symbol" charset="0"/>
              </a:rPr>
              <a:t> </a:t>
            </a:r>
          </a:p>
          <a:p>
            <a:pPr marL="457200" lvl="1" indent="0">
              <a:buNone/>
              <a:defRPr/>
            </a:pPr>
            <a:r>
              <a:rPr lang="en-US" dirty="0">
                <a:sym typeface="Symbol" charset="0"/>
              </a:rPr>
              <a:t>   </a:t>
            </a:r>
            <a:r>
              <a:rPr lang="en-US" dirty="0" err="1">
                <a:sym typeface="Symbol" charset="0"/>
              </a:rPr>
              <a:t>encontrar</a:t>
            </a:r>
            <a:r>
              <a:rPr lang="en-US" dirty="0">
                <a:sym typeface="Symbol" charset="0"/>
              </a:rPr>
              <a:t> s*  F </a:t>
            </a:r>
            <a:r>
              <a:rPr lang="en-US" dirty="0" err="1">
                <a:sym typeface="Symbol" charset="0"/>
              </a:rPr>
              <a:t>tal</a:t>
            </a:r>
            <a:r>
              <a:rPr lang="en-US" dirty="0">
                <a:sym typeface="Symbol" charset="0"/>
              </a:rPr>
              <a:t> que c(s*)  c(s) s  F </a:t>
            </a:r>
            <a:r>
              <a:rPr lang="en-US" dirty="0" err="1"/>
              <a:t>onde</a:t>
            </a:r>
            <a:r>
              <a:rPr lang="en-US" dirty="0"/>
              <a:t>              </a:t>
            </a:r>
            <a:r>
              <a:rPr lang="en-US" dirty="0" err="1">
                <a:solidFill>
                  <a:schemeClr val="bg1"/>
                </a:solidFill>
              </a:rPr>
              <a:t>c</a:t>
            </a:r>
            <a:r>
              <a:rPr lang="en-US" dirty="0" err="1"/>
              <a:t>F</a:t>
            </a:r>
            <a:r>
              <a:rPr lang="en-US" dirty="0"/>
              <a:t> </a:t>
            </a:r>
            <a:r>
              <a:rPr lang="en-US" dirty="0">
                <a:sym typeface="Symbol" charset="0"/>
              </a:rPr>
              <a:t> </a:t>
            </a:r>
            <a:r>
              <a:rPr lang="en-US" dirty="0"/>
              <a:t>2</a:t>
            </a:r>
            <a:r>
              <a:rPr lang="en-US" baseline="30000" dirty="0"/>
              <a:t>E </a:t>
            </a:r>
            <a:r>
              <a:rPr lang="en-US" dirty="0" err="1">
                <a:sym typeface="Symbol" charset="0"/>
              </a:rPr>
              <a:t>é</a:t>
            </a:r>
            <a:r>
              <a:rPr lang="en-US" dirty="0">
                <a:sym typeface="Symbol" charset="0"/>
              </a:rPr>
              <a:t> o conjunto de </a:t>
            </a:r>
            <a:r>
              <a:rPr lang="en-US" dirty="0" err="1">
                <a:sym typeface="Symbol" charset="0"/>
              </a:rPr>
              <a:t>soluções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viáveis</a:t>
            </a:r>
            <a:r>
              <a:rPr lang="en-US" dirty="0">
                <a:sym typeface="Symbol" charset="0"/>
              </a:rPr>
              <a:t> do </a:t>
            </a:r>
            <a:r>
              <a:rPr lang="en-US" dirty="0" err="1">
                <a:sym typeface="Symbol" charset="0"/>
              </a:rPr>
              <a:t>problema</a:t>
            </a:r>
            <a:r>
              <a:rPr lang="en-US" dirty="0">
                <a:sym typeface="Symbol" charset="0"/>
              </a:rPr>
              <a:t>.</a:t>
            </a:r>
          </a:p>
          <a:p>
            <a:pPr lvl="1">
              <a:defRPr/>
            </a:pPr>
            <a:r>
              <a:rPr lang="pt-BR" dirty="0" err="1"/>
              <a:t>F</a:t>
            </a:r>
            <a:r>
              <a:rPr lang="pt-BR" dirty="0"/>
              <a:t>: Conjunto discreto de soluções com um número finito de elementos.</a:t>
            </a:r>
          </a:p>
          <a:p>
            <a:pPr lvl="1">
              <a:defRPr/>
            </a:pPr>
            <a:endParaRPr lang="en-US" dirty="0">
              <a:sym typeface="Symbol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64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Construtivos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Algoritmo Guloso ou algoritmo construtivo</a:t>
            </a:r>
          </a:p>
          <a:p>
            <a:pPr lvl="1"/>
            <a:r>
              <a:rPr lang="pt-BR" dirty="0"/>
              <a:t>Constroem uma solução de forma iterativa, inserindo a cada passo um elemento no conjunto solução.</a:t>
            </a:r>
          </a:p>
        </p:txBody>
      </p:sp>
    </p:spTree>
    <p:extLst>
      <p:ext uri="{BB962C8B-B14F-4D97-AF65-F5344CB8AC3E}">
        <p14:creationId xmlns:p14="http://schemas.microsoft.com/office/powerpoint/2010/main" val="4197864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Construtivos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Algoritmo Guloso ou algoritmo construtivo</a:t>
            </a:r>
          </a:p>
          <a:p>
            <a:pPr lvl="1"/>
            <a:r>
              <a:rPr lang="pt-BR" dirty="0"/>
              <a:t>A partir de uma solução inicial (conjunto vazio), a cada passo, atribui-se valor para uma variável de decisão até que uma solução viável seja construída.</a:t>
            </a:r>
          </a:p>
          <a:p>
            <a:pPr lvl="1"/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Em problemas de otimização, onde a solução pode ser definida pela presença/ausência de elementos, uma solução parcial pode ser vista como um subconjunto de elementos. A cada etapa um elemento é inserido na solução parcial.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3643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Construtivos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Algoritmo Guloso ou algoritmo construtivo</a:t>
            </a:r>
          </a:p>
          <a:p>
            <a:pPr lvl="1"/>
            <a:r>
              <a:rPr lang="pt-BR" dirty="0"/>
              <a:t>A partir de uma solução inicial (conjunto vazio), a cada passo, atribui-se valor para uma variável de decisão até que uma solução viável seja construída.</a:t>
            </a:r>
          </a:p>
          <a:p>
            <a:pPr lvl="1"/>
            <a:r>
              <a:rPr lang="pt-BR" dirty="0"/>
              <a:t>Em problemas de otimização, onde a solução pode ser definida pela presença/ausência de elementos, </a:t>
            </a:r>
            <a:r>
              <a:rPr lang="pt-BR" u="sng" dirty="0"/>
              <a:t>uma solução parcial pode ser vista como um subconjunto de elementos</a:t>
            </a:r>
            <a:r>
              <a:rPr lang="pt-BR" dirty="0"/>
              <a:t>. A cada etapa um elemento é inserido na solução parcial.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2984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Métodos Construtivos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Algoritmo Guloso ou algoritmo construtivo</a:t>
            </a:r>
          </a:p>
          <a:p>
            <a:pPr lvl="1"/>
            <a:r>
              <a:rPr lang="pt-BR" dirty="0"/>
              <a:t>Selecionar sequencialmente elementos de E, eventualmente descartando alguns, de tal forma que se obtenha ao final uma solução viável, isto é, pertencente a F.</a:t>
            </a:r>
          </a:p>
        </p:txBody>
      </p:sp>
    </p:spTree>
    <p:extLst>
      <p:ext uri="{BB962C8B-B14F-4D97-AF65-F5344CB8AC3E}">
        <p14:creationId xmlns:p14="http://schemas.microsoft.com/office/powerpoint/2010/main" val="377544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Métodos Construtivos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Algoritmo Guloso ou algoritmo construtivo</a:t>
            </a:r>
          </a:p>
          <a:p>
            <a:pPr marL="457200" lvl="1" indent="0">
              <a:buNone/>
            </a:pPr>
            <a:r>
              <a:rPr lang="pt-BR" dirty="0"/>
              <a:t>Funcionamento geral: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Constrói uma solução, elemento por elemento;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A cada passo é adicionado um único elemento candidato;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O candidato escolhido é o “melhor” segundo um certo critério (heurística);</a:t>
            </a:r>
          </a:p>
          <a:p>
            <a:pPr lvl="1">
              <a:lnSpc>
                <a:spcPct val="90000"/>
              </a:lnSpc>
            </a:pPr>
            <a:r>
              <a:rPr lang="pt-BR" dirty="0"/>
              <a:t>O método se encerra quando todos os elementos candidatos foram analisados.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9000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Métodos Construtivos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Algoritmo Guloso ou algoritmo construtivo</a:t>
            </a:r>
          </a:p>
          <a:p>
            <a:pPr marL="457200" lvl="1" indent="0">
              <a:buNone/>
            </a:pPr>
            <a:r>
              <a:rPr lang="pt-BR" dirty="0"/>
              <a:t>Exemplo: Problema da Mochila</a:t>
            </a:r>
          </a:p>
          <a:p>
            <a:pPr lvl="1"/>
            <a:endParaRPr lang="pt-BR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3869694"/>
              </p:ext>
            </p:extLst>
          </p:nvPr>
        </p:nvGraphicFramePr>
        <p:xfrm>
          <a:off x="891117" y="2720445"/>
          <a:ext cx="7837488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Imagem de bitmap" r:id="rId3" imgW="7838095" imgH="1895238" progId="Paint.Picture">
                  <p:embed/>
                </p:oleObj>
              </mc:Choice>
              <mc:Fallback>
                <p:oleObj name="Imagem de bitmap" r:id="rId3" imgW="7838095" imgH="18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117" y="2720445"/>
                        <a:ext cx="7837488" cy="189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6278178"/>
              </p:ext>
            </p:extLst>
          </p:nvPr>
        </p:nvGraphicFramePr>
        <p:xfrm>
          <a:off x="914930" y="4633382"/>
          <a:ext cx="7789862" cy="219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Imagem de bitmap" r:id="rId5" imgW="7790476" imgH="2190476" progId="Paint.Picture">
                  <p:embed/>
                </p:oleObj>
              </mc:Choice>
              <mc:Fallback>
                <p:oleObj name="Imagem de bitmap" r:id="rId5" imgW="7790476" imgH="2190476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930" y="4633382"/>
                        <a:ext cx="7789862" cy="219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478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Métodos Construtivos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Algoritmo Guloso ou algoritmo construtivo</a:t>
            </a:r>
          </a:p>
          <a:p>
            <a:pPr marL="457200" lvl="1" indent="0">
              <a:buNone/>
            </a:pPr>
            <a:r>
              <a:rPr lang="pt-BR" dirty="0"/>
              <a:t>Exemplo</a:t>
            </a:r>
          </a:p>
          <a:p>
            <a:pPr lvl="1"/>
            <a:endParaRPr lang="pt-BR" dirty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0616664"/>
              </p:ext>
            </p:extLst>
          </p:nvPr>
        </p:nvGraphicFramePr>
        <p:xfrm>
          <a:off x="905928" y="2155813"/>
          <a:ext cx="7875588" cy="476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Imagem de bitmap" r:id="rId3" imgW="7876190" imgH="4761905" progId="Paint.Picture">
                  <p:embed/>
                </p:oleObj>
              </mc:Choice>
              <mc:Fallback>
                <p:oleObj name="Imagem de bitmap" r:id="rId3" imgW="7876190" imgH="476190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928" y="2155813"/>
                        <a:ext cx="7875588" cy="476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5432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Construtivos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Algoritmo Guloso ou algoritmo construtivo</a:t>
            </a:r>
          </a:p>
          <a:p>
            <a:endParaRPr lang="pt-B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2708920"/>
            <a:ext cx="5791596" cy="270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16431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Construtivos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Algoritmo Guloso ou algoritmo construtivo</a:t>
            </a:r>
          </a:p>
          <a:p>
            <a:pPr lvl="1"/>
            <a:r>
              <a:rPr lang="pt-BR" dirty="0"/>
              <a:t>Principais questões</a:t>
            </a:r>
          </a:p>
          <a:p>
            <a:endParaRPr lang="pt-B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2708920"/>
            <a:ext cx="5791596" cy="270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tângulo 4"/>
          <p:cNvSpPr/>
          <p:nvPr/>
        </p:nvSpPr>
        <p:spPr>
          <a:xfrm>
            <a:off x="3203848" y="3356992"/>
            <a:ext cx="216024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4010684" y="3918308"/>
            <a:ext cx="1656184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exto explicativo em elipse 6"/>
          <p:cNvSpPr/>
          <p:nvPr/>
        </p:nvSpPr>
        <p:spPr>
          <a:xfrm>
            <a:off x="179512" y="3861048"/>
            <a:ext cx="2987824" cy="1296144"/>
          </a:xfrm>
          <a:prstGeom prst="wedgeEllipseCallout">
            <a:avLst>
              <a:gd name="adj1" fmla="val 48273"/>
              <a:gd name="adj2" fmla="val -694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Identificar a solução como um conjunto de elementos</a:t>
            </a:r>
          </a:p>
        </p:txBody>
      </p:sp>
      <p:sp>
        <p:nvSpPr>
          <p:cNvPr id="8" name="Texto explicativo em elipse 7"/>
          <p:cNvSpPr/>
          <p:nvPr/>
        </p:nvSpPr>
        <p:spPr>
          <a:xfrm>
            <a:off x="5508104" y="2492896"/>
            <a:ext cx="3563888" cy="936104"/>
          </a:xfrm>
          <a:prstGeom prst="wedgeEllipseCallout">
            <a:avLst>
              <a:gd name="adj1" fmla="val -42791"/>
              <a:gd name="adj2" fmla="val 97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Heurística de seleção de elementos</a:t>
            </a:r>
          </a:p>
        </p:txBody>
      </p:sp>
    </p:spTree>
    <p:extLst>
      <p:ext uri="{BB962C8B-B14F-4D97-AF65-F5344CB8AC3E}">
        <p14:creationId xmlns:p14="http://schemas.microsoft.com/office/powerpoint/2010/main" val="3246741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Construtivos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Algoritmo Guloso ou algoritmo construtivo</a:t>
            </a:r>
          </a:p>
          <a:p>
            <a:pPr lvl="1"/>
            <a:r>
              <a:rPr lang="pt-BR" dirty="0"/>
              <a:t>Um exemplo para o Problema Caixeiro Viajante</a:t>
            </a:r>
          </a:p>
          <a:p>
            <a:pPr lvl="2"/>
            <a:r>
              <a:rPr lang="pt-BR" dirty="0"/>
              <a:t>E:</a:t>
            </a:r>
          </a:p>
          <a:p>
            <a:pPr lvl="2"/>
            <a:r>
              <a:rPr lang="pt-BR" dirty="0"/>
              <a:t>Heurística Local:</a:t>
            </a:r>
          </a:p>
        </p:txBody>
      </p:sp>
    </p:spTree>
    <p:extLst>
      <p:ext uri="{BB962C8B-B14F-4D97-AF65-F5344CB8AC3E}">
        <p14:creationId xmlns:p14="http://schemas.microsoft.com/office/powerpoint/2010/main" val="1946549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Construtivos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Algoritmo Guloso ou algoritmo construtivo</a:t>
            </a:r>
          </a:p>
          <a:p>
            <a:pPr lvl="1"/>
            <a:r>
              <a:rPr lang="pt-BR" dirty="0"/>
              <a:t>Um exemplo para o Problema Caixeiro Viajante</a:t>
            </a:r>
          </a:p>
          <a:p>
            <a:pPr lvl="2"/>
            <a:r>
              <a:rPr lang="pt-BR" dirty="0"/>
              <a:t>E: Conjunto das arestas</a:t>
            </a:r>
          </a:p>
          <a:p>
            <a:pPr lvl="2"/>
            <a:r>
              <a:rPr lang="pt-BR" dirty="0"/>
              <a:t>Heurística Local: Selecionar o vizinho mais próximo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7364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Métodos Construtivos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Construção de uma solução</a:t>
            </a:r>
          </a:p>
          <a:p>
            <a:pPr lvl="1"/>
            <a:r>
              <a:rPr lang="pt-BR" dirty="0"/>
              <a:t>Problema do Caixeiro Viajante (PCV)</a:t>
            </a:r>
          </a:p>
          <a:p>
            <a:pPr lvl="1"/>
            <a:r>
              <a:rPr lang="pt-BR" dirty="0"/>
              <a:t>Heurísticas locais para o PCV</a:t>
            </a:r>
          </a:p>
          <a:p>
            <a:pPr lvl="2"/>
            <a:r>
              <a:rPr lang="pt-BR" dirty="0"/>
              <a:t>Vizinho mais próximo</a:t>
            </a:r>
          </a:p>
          <a:p>
            <a:pPr lvl="2"/>
            <a:r>
              <a:rPr lang="pt-BR" dirty="0"/>
              <a:t>Inserção mais próxima</a:t>
            </a:r>
          </a:p>
          <a:p>
            <a:pPr lvl="2"/>
            <a:r>
              <a:rPr lang="pt-BR" dirty="0"/>
              <a:t>Inserção mais distante</a:t>
            </a:r>
          </a:p>
          <a:p>
            <a:pPr lvl="2"/>
            <a:r>
              <a:rPr lang="pt-BR" dirty="0"/>
              <a:t>Inserção mais barata</a:t>
            </a:r>
          </a:p>
          <a:p>
            <a:pPr lvl="2"/>
            <a:r>
              <a:rPr lang="pt-BR" dirty="0"/>
              <a:t>Inserção com maior ângulo</a:t>
            </a:r>
          </a:p>
          <a:p>
            <a:pPr lvl="2"/>
            <a:r>
              <a:rPr lang="pt-BR" dirty="0"/>
              <a:t>Algoritmo de economias</a:t>
            </a:r>
          </a:p>
          <a:p>
            <a:pPr lvl="2"/>
            <a:r>
              <a:rPr lang="pt-BR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565337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Métodos</a:t>
            </a:r>
            <a:r>
              <a:rPr lang="en-US" dirty="0"/>
              <a:t> </a:t>
            </a:r>
            <a:r>
              <a:rPr lang="en-US" dirty="0" err="1"/>
              <a:t>Construtivos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PCV – </a:t>
            </a:r>
            <a:r>
              <a:rPr lang="en-US" dirty="0" err="1"/>
              <a:t>Vizinho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próximo</a:t>
            </a:r>
            <a:endParaRPr lang="en-US" dirty="0"/>
          </a:p>
          <a:p>
            <a:pPr lvl="1"/>
            <a:r>
              <a:rPr lang="pt-BR" dirty="0"/>
              <a:t>Ideia central: Construir uma rota, passo a passo, adicionando à solução corrente a cidade (ainda não visitada) mais próxima da última cidade inserida.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39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Métodos</a:t>
            </a:r>
            <a:r>
              <a:rPr lang="en-US" dirty="0"/>
              <a:t> </a:t>
            </a:r>
            <a:r>
              <a:rPr lang="en-US" dirty="0" err="1"/>
              <a:t>Construtivos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PCV – </a:t>
            </a:r>
            <a:r>
              <a:rPr lang="en-US" dirty="0" err="1"/>
              <a:t>Vizinho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próximo</a:t>
            </a:r>
            <a:endParaRPr lang="en-US" dirty="0"/>
          </a:p>
          <a:p>
            <a:pPr lvl="1"/>
            <a:r>
              <a:rPr lang="en-US" dirty="0" err="1"/>
              <a:t>Marcone</a:t>
            </a:r>
            <a:r>
              <a:rPr lang="en-US" dirty="0"/>
              <a:t> (UFOP)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00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9" name="Oval 3"/>
          <p:cNvSpPr>
            <a:spLocks noChangeArrowheads="1"/>
          </p:cNvSpPr>
          <p:nvPr/>
        </p:nvSpPr>
        <p:spPr bwMode="auto">
          <a:xfrm>
            <a:off x="1879600" y="35814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1</a:t>
            </a:r>
          </a:p>
        </p:txBody>
      </p:sp>
      <p:sp>
        <p:nvSpPr>
          <p:cNvPr id="203780" name="Oval 4"/>
          <p:cNvSpPr>
            <a:spLocks noChangeArrowheads="1"/>
          </p:cNvSpPr>
          <p:nvPr/>
        </p:nvSpPr>
        <p:spPr bwMode="auto">
          <a:xfrm>
            <a:off x="3276600" y="52832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4</a:t>
            </a:r>
          </a:p>
        </p:txBody>
      </p:sp>
      <p:graphicFrame>
        <p:nvGraphicFramePr>
          <p:cNvPr id="203781" name="Group 5"/>
          <p:cNvGraphicFramePr>
            <a:graphicFrameLocks noGrp="1"/>
          </p:cNvGraphicFramePr>
          <p:nvPr/>
        </p:nvGraphicFramePr>
        <p:xfrm>
          <a:off x="6732588" y="1143000"/>
          <a:ext cx="1163637" cy="1684025"/>
        </p:xfrm>
        <a:graphic>
          <a:graphicData uri="http://schemas.openxmlformats.org/drawingml/2006/table">
            <a:tbl>
              <a:tblPr/>
              <a:tblGrid>
                <a:gridCol w="373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j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d</a:t>
                      </a:r>
                      <a:r>
                        <a:rPr kumimoji="0" lang="pt-BR" sz="12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ij</a:t>
                      </a:r>
                      <a:endParaRPr kumimoji="0" lang="pt-BR" sz="12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3813" name="Oval 37"/>
          <p:cNvSpPr>
            <a:spLocks noChangeArrowheads="1"/>
          </p:cNvSpPr>
          <p:nvPr/>
        </p:nvSpPr>
        <p:spPr bwMode="auto">
          <a:xfrm>
            <a:off x="4292600" y="44196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3</a:t>
            </a:r>
          </a:p>
        </p:txBody>
      </p:sp>
      <p:sp>
        <p:nvSpPr>
          <p:cNvPr id="203814" name="Oval 38"/>
          <p:cNvSpPr>
            <a:spLocks noChangeArrowheads="1"/>
          </p:cNvSpPr>
          <p:nvPr/>
        </p:nvSpPr>
        <p:spPr bwMode="auto">
          <a:xfrm>
            <a:off x="3276600" y="35814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2</a:t>
            </a:r>
          </a:p>
        </p:txBody>
      </p:sp>
      <p:sp>
        <p:nvSpPr>
          <p:cNvPr id="203815" name="Oval 39"/>
          <p:cNvSpPr>
            <a:spLocks noChangeArrowheads="1"/>
          </p:cNvSpPr>
          <p:nvPr/>
        </p:nvSpPr>
        <p:spPr bwMode="auto">
          <a:xfrm>
            <a:off x="1879600" y="52832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5</a:t>
            </a:r>
          </a:p>
        </p:txBody>
      </p:sp>
      <p:sp>
        <p:nvSpPr>
          <p:cNvPr id="203816" name="Oval 40"/>
          <p:cNvSpPr>
            <a:spLocks noChangeArrowheads="1"/>
          </p:cNvSpPr>
          <p:nvPr/>
        </p:nvSpPr>
        <p:spPr bwMode="auto">
          <a:xfrm>
            <a:off x="838200" y="44196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6</a:t>
            </a:r>
          </a:p>
        </p:txBody>
      </p:sp>
      <p:sp>
        <p:nvSpPr>
          <p:cNvPr id="203883" name="Oval 107"/>
          <p:cNvSpPr>
            <a:spLocks noChangeArrowheads="1"/>
          </p:cNvSpPr>
          <p:nvPr/>
        </p:nvSpPr>
        <p:spPr bwMode="auto">
          <a:xfrm>
            <a:off x="6659563" y="1447800"/>
            <a:ext cx="1308100" cy="228600"/>
          </a:xfrm>
          <a:prstGeom prst="ellips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03884" name="Rectangle 108"/>
          <p:cNvSpPr>
            <a:spLocks noGrp="1" noChangeArrowheads="1"/>
          </p:cNvSpPr>
          <p:nvPr>
            <p:ph type="body" idx="1"/>
          </p:nvPr>
        </p:nvSpPr>
        <p:spPr>
          <a:xfrm>
            <a:off x="5500688" y="4854575"/>
            <a:ext cx="1925637" cy="388938"/>
          </a:xfrm>
          <a:noFill/>
          <a:ln/>
        </p:spPr>
        <p:txBody>
          <a:bodyPr/>
          <a:lstStyle/>
          <a:p>
            <a:pPr marL="177800" indent="-177800"/>
            <a:r>
              <a:rPr lang="pt-BR" sz="1300" b="1"/>
              <a:t>Distância Total</a:t>
            </a:r>
            <a:r>
              <a:rPr lang="pt-BR" sz="1300"/>
              <a:t> </a:t>
            </a:r>
            <a:r>
              <a:rPr lang="pt-BR" sz="1300" b="1"/>
              <a:t>=</a:t>
            </a:r>
          </a:p>
        </p:txBody>
      </p:sp>
      <p:sp>
        <p:nvSpPr>
          <p:cNvPr id="203885" name="Text Box 109"/>
          <p:cNvSpPr txBox="1">
            <a:spLocks noChangeArrowheads="1"/>
          </p:cNvSpPr>
          <p:nvPr/>
        </p:nvSpPr>
        <p:spPr bwMode="auto">
          <a:xfrm>
            <a:off x="7175500" y="4867275"/>
            <a:ext cx="27622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300">
                <a:latin typeface="Arial" charset="0"/>
              </a:rPr>
              <a:t>1</a:t>
            </a:r>
          </a:p>
        </p:txBody>
      </p:sp>
      <p:cxnSp>
        <p:nvCxnSpPr>
          <p:cNvPr id="203886" name="AutoShape 110"/>
          <p:cNvCxnSpPr>
            <a:cxnSpLocks noChangeShapeType="1"/>
            <a:stCxn id="203816" idx="7"/>
            <a:endCxn id="203779" idx="3"/>
          </p:cNvCxnSpPr>
          <p:nvPr/>
        </p:nvCxnSpPr>
        <p:spPr bwMode="auto">
          <a:xfrm flipV="1">
            <a:off x="1206500" y="3949700"/>
            <a:ext cx="73660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3887" name="Text Box 111"/>
          <p:cNvSpPr txBox="1">
            <a:spLocks noChangeArrowheads="1"/>
          </p:cNvSpPr>
          <p:nvPr/>
        </p:nvSpPr>
        <p:spPr bwMode="auto">
          <a:xfrm>
            <a:off x="1333500" y="40513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1</a:t>
            </a:r>
          </a:p>
        </p:txBody>
      </p:sp>
      <p:graphicFrame>
        <p:nvGraphicFramePr>
          <p:cNvPr id="16" name="Group 37"/>
          <p:cNvGraphicFramePr>
            <a:graphicFrameLocks noGrp="1"/>
          </p:cNvGraphicFramePr>
          <p:nvPr/>
        </p:nvGraphicFramePr>
        <p:xfrm>
          <a:off x="611188" y="1517650"/>
          <a:ext cx="2855912" cy="1920240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Cid.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8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>
          <a:xfrm>
            <a:off x="1065213" y="560388"/>
            <a:ext cx="7239000" cy="565150"/>
          </a:xfrm>
        </p:spPr>
        <p:txBody>
          <a:bodyPr>
            <a:normAutofit fontScale="90000"/>
          </a:bodyPr>
          <a:lstStyle/>
          <a:p>
            <a:pPr algn="ctr"/>
            <a:r>
              <a:rPr lang="pt-BR" sz="3300" dirty="0"/>
              <a:t>PCV – Vizinho mais Próximo</a:t>
            </a:r>
            <a:br>
              <a:rPr lang="pt-BR" sz="3300" dirty="0"/>
            </a:br>
            <a:r>
              <a:rPr lang="pt-BR" sz="3300" dirty="0"/>
              <a:t>Exemplo - Passo 1</a:t>
            </a:r>
          </a:p>
        </p:txBody>
      </p:sp>
    </p:spTree>
    <p:extLst>
      <p:ext uri="{BB962C8B-B14F-4D97-AF65-F5344CB8AC3E}">
        <p14:creationId xmlns:p14="http://schemas.microsoft.com/office/powerpoint/2010/main" val="189301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3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03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03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000" fill="hold"/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3B3B1"/>
                                      </p:to>
                                    </p:animClr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3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3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3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3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883" grpId="0" animBg="1"/>
      <p:bldP spid="203884" grpId="0" build="p"/>
      <p:bldP spid="203885" grpId="0"/>
      <p:bldP spid="20388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5213" y="560388"/>
            <a:ext cx="7239000" cy="565150"/>
          </a:xfrm>
        </p:spPr>
        <p:txBody>
          <a:bodyPr>
            <a:normAutofit fontScale="90000"/>
          </a:bodyPr>
          <a:lstStyle/>
          <a:p>
            <a:pPr algn="ctr"/>
            <a:r>
              <a:rPr lang="pt-BR" sz="3300" dirty="0"/>
              <a:t>PCV – Vizinho mais Próximo</a:t>
            </a:r>
            <a:br>
              <a:rPr lang="pt-BR" sz="3300" dirty="0"/>
            </a:br>
            <a:r>
              <a:rPr lang="pt-BR" sz="3300" dirty="0"/>
              <a:t>Exemplo - Passo 2</a:t>
            </a:r>
          </a:p>
        </p:txBody>
      </p:sp>
      <p:sp>
        <p:nvSpPr>
          <p:cNvPr id="204803" name="Oval 3"/>
          <p:cNvSpPr>
            <a:spLocks noChangeArrowheads="1"/>
          </p:cNvSpPr>
          <p:nvPr/>
        </p:nvSpPr>
        <p:spPr bwMode="auto">
          <a:xfrm>
            <a:off x="1879600" y="35814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1</a:t>
            </a:r>
          </a:p>
        </p:txBody>
      </p:sp>
      <p:sp>
        <p:nvSpPr>
          <p:cNvPr id="204804" name="Oval 4"/>
          <p:cNvSpPr>
            <a:spLocks noChangeArrowheads="1"/>
          </p:cNvSpPr>
          <p:nvPr/>
        </p:nvSpPr>
        <p:spPr bwMode="auto">
          <a:xfrm>
            <a:off x="3276600" y="52832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4</a:t>
            </a:r>
          </a:p>
        </p:txBody>
      </p:sp>
      <p:graphicFrame>
        <p:nvGraphicFramePr>
          <p:cNvPr id="204805" name="Group 5"/>
          <p:cNvGraphicFramePr>
            <a:graphicFrameLocks noGrp="1"/>
          </p:cNvGraphicFramePr>
          <p:nvPr/>
        </p:nvGraphicFramePr>
        <p:xfrm>
          <a:off x="6732588" y="1143000"/>
          <a:ext cx="1163637" cy="1407545"/>
        </p:xfrm>
        <a:graphic>
          <a:graphicData uri="http://schemas.openxmlformats.org/drawingml/2006/table">
            <a:tbl>
              <a:tblPr/>
              <a:tblGrid>
                <a:gridCol w="373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j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d</a:t>
                      </a:r>
                      <a:r>
                        <a:rPr kumimoji="0" lang="pt-BR" sz="12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ij</a:t>
                      </a:r>
                      <a:endParaRPr kumimoji="0" lang="pt-BR" sz="12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4833" name="Oval 33"/>
          <p:cNvSpPr>
            <a:spLocks noChangeArrowheads="1"/>
          </p:cNvSpPr>
          <p:nvPr/>
        </p:nvSpPr>
        <p:spPr bwMode="auto">
          <a:xfrm>
            <a:off x="4292600" y="44196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3</a:t>
            </a:r>
          </a:p>
        </p:txBody>
      </p:sp>
      <p:sp>
        <p:nvSpPr>
          <p:cNvPr id="204834" name="Oval 34"/>
          <p:cNvSpPr>
            <a:spLocks noChangeArrowheads="1"/>
          </p:cNvSpPr>
          <p:nvPr/>
        </p:nvSpPr>
        <p:spPr bwMode="auto">
          <a:xfrm>
            <a:off x="3276600" y="35814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2</a:t>
            </a:r>
          </a:p>
        </p:txBody>
      </p:sp>
      <p:sp>
        <p:nvSpPr>
          <p:cNvPr id="204835" name="Oval 35"/>
          <p:cNvSpPr>
            <a:spLocks noChangeArrowheads="1"/>
          </p:cNvSpPr>
          <p:nvPr/>
        </p:nvSpPr>
        <p:spPr bwMode="auto">
          <a:xfrm>
            <a:off x="1879600" y="52832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5</a:t>
            </a:r>
          </a:p>
        </p:txBody>
      </p:sp>
      <p:sp>
        <p:nvSpPr>
          <p:cNvPr id="204836" name="Oval 36"/>
          <p:cNvSpPr>
            <a:spLocks noChangeArrowheads="1"/>
          </p:cNvSpPr>
          <p:nvPr/>
        </p:nvSpPr>
        <p:spPr bwMode="auto">
          <a:xfrm>
            <a:off x="838200" y="44196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6</a:t>
            </a:r>
          </a:p>
        </p:txBody>
      </p:sp>
      <p:graphicFrame>
        <p:nvGraphicFramePr>
          <p:cNvPr id="204837" name="Group 37"/>
          <p:cNvGraphicFramePr>
            <a:graphicFrameLocks noGrp="1"/>
          </p:cNvGraphicFramePr>
          <p:nvPr/>
        </p:nvGraphicFramePr>
        <p:xfrm>
          <a:off x="611188" y="1517650"/>
          <a:ext cx="2855912" cy="1920240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Cid.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8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4903" name="Oval 103"/>
          <p:cNvSpPr>
            <a:spLocks noChangeArrowheads="1"/>
          </p:cNvSpPr>
          <p:nvPr/>
        </p:nvSpPr>
        <p:spPr bwMode="auto">
          <a:xfrm>
            <a:off x="6659563" y="1727200"/>
            <a:ext cx="1308100" cy="228600"/>
          </a:xfrm>
          <a:prstGeom prst="ellips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04904" name="Rectangle 104"/>
          <p:cNvSpPr>
            <a:spLocks noGrp="1" noChangeArrowheads="1"/>
          </p:cNvSpPr>
          <p:nvPr>
            <p:ph type="body" idx="1"/>
          </p:nvPr>
        </p:nvSpPr>
        <p:spPr>
          <a:xfrm>
            <a:off x="5500688" y="4854575"/>
            <a:ext cx="1925637" cy="388938"/>
          </a:xfrm>
          <a:noFill/>
          <a:ln/>
        </p:spPr>
        <p:txBody>
          <a:bodyPr/>
          <a:lstStyle/>
          <a:p>
            <a:pPr marL="177800" indent="-177800"/>
            <a:r>
              <a:rPr lang="pt-BR" sz="1300" b="1"/>
              <a:t>Distância Total</a:t>
            </a:r>
            <a:r>
              <a:rPr lang="pt-BR" sz="1300"/>
              <a:t> </a:t>
            </a:r>
            <a:r>
              <a:rPr lang="pt-BR" sz="1300" b="1"/>
              <a:t>=</a:t>
            </a:r>
          </a:p>
        </p:txBody>
      </p:sp>
      <p:sp>
        <p:nvSpPr>
          <p:cNvPr id="204905" name="Text Box 105"/>
          <p:cNvSpPr txBox="1">
            <a:spLocks noChangeArrowheads="1"/>
          </p:cNvSpPr>
          <p:nvPr/>
        </p:nvSpPr>
        <p:spPr bwMode="auto">
          <a:xfrm>
            <a:off x="7164388" y="4867275"/>
            <a:ext cx="107950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BR" sz="1300">
                <a:latin typeface="Arial" charset="0"/>
              </a:rPr>
              <a:t>1 + 1 = 2</a:t>
            </a:r>
          </a:p>
        </p:txBody>
      </p:sp>
      <p:cxnSp>
        <p:nvCxnSpPr>
          <p:cNvPr id="204906" name="AutoShape 106"/>
          <p:cNvCxnSpPr>
            <a:cxnSpLocks noChangeShapeType="1"/>
            <a:stCxn id="204836" idx="7"/>
            <a:endCxn id="204803" idx="3"/>
          </p:cNvCxnSpPr>
          <p:nvPr/>
        </p:nvCxnSpPr>
        <p:spPr bwMode="auto">
          <a:xfrm flipV="1">
            <a:off x="1206500" y="3949700"/>
            <a:ext cx="73660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4907" name="Text Box 107"/>
          <p:cNvSpPr txBox="1">
            <a:spLocks noChangeArrowheads="1"/>
          </p:cNvSpPr>
          <p:nvPr/>
        </p:nvSpPr>
        <p:spPr bwMode="auto">
          <a:xfrm>
            <a:off x="1333500" y="40513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1</a:t>
            </a:r>
          </a:p>
        </p:txBody>
      </p:sp>
      <p:cxnSp>
        <p:nvCxnSpPr>
          <p:cNvPr id="204908" name="AutoShape 108"/>
          <p:cNvCxnSpPr>
            <a:cxnSpLocks noChangeShapeType="1"/>
            <a:stCxn id="204803" idx="6"/>
            <a:endCxn id="204833" idx="2"/>
          </p:cNvCxnSpPr>
          <p:nvPr/>
        </p:nvCxnSpPr>
        <p:spPr bwMode="auto">
          <a:xfrm>
            <a:off x="2311400" y="3797300"/>
            <a:ext cx="1981200" cy="838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4909" name="Text Box 109"/>
          <p:cNvSpPr txBox="1">
            <a:spLocks noChangeArrowheads="1"/>
          </p:cNvSpPr>
          <p:nvPr/>
        </p:nvSpPr>
        <p:spPr bwMode="auto">
          <a:xfrm>
            <a:off x="2463800" y="36957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74743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04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04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000" fill="hold"/>
                                        <p:tgtEl>
                                          <p:spTgt spid="2048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3B3B1"/>
                                      </p:to>
                                    </p:animClr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2048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2048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4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4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4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03" grpId="0" animBg="1"/>
      <p:bldP spid="204904" grpId="0" build="p"/>
      <p:bldP spid="204905" grpId="0"/>
      <p:bldP spid="20490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065213" y="560388"/>
            <a:ext cx="7239000" cy="565150"/>
          </a:xfrm>
        </p:spPr>
        <p:txBody>
          <a:bodyPr>
            <a:normAutofit fontScale="90000"/>
          </a:bodyPr>
          <a:lstStyle/>
          <a:p>
            <a:pPr algn="ctr"/>
            <a:r>
              <a:rPr lang="pt-BR" sz="3300"/>
              <a:t>PCV – Vizinho mais Próximo</a:t>
            </a:r>
            <a:br>
              <a:rPr lang="pt-BR" sz="3300"/>
            </a:br>
            <a:r>
              <a:rPr lang="pt-BR" sz="3300"/>
              <a:t>Exemplo - Passo 3</a:t>
            </a:r>
          </a:p>
        </p:txBody>
      </p:sp>
      <p:sp>
        <p:nvSpPr>
          <p:cNvPr id="205827" name="Oval 3"/>
          <p:cNvSpPr>
            <a:spLocks noChangeArrowheads="1"/>
          </p:cNvSpPr>
          <p:nvPr/>
        </p:nvSpPr>
        <p:spPr bwMode="auto">
          <a:xfrm>
            <a:off x="1879600" y="35814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1</a:t>
            </a:r>
          </a:p>
        </p:txBody>
      </p:sp>
      <p:sp>
        <p:nvSpPr>
          <p:cNvPr id="205828" name="Oval 4"/>
          <p:cNvSpPr>
            <a:spLocks noChangeArrowheads="1"/>
          </p:cNvSpPr>
          <p:nvPr/>
        </p:nvSpPr>
        <p:spPr bwMode="auto">
          <a:xfrm>
            <a:off x="3276600" y="52832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4</a:t>
            </a:r>
          </a:p>
        </p:txBody>
      </p:sp>
      <p:graphicFrame>
        <p:nvGraphicFramePr>
          <p:cNvPr id="205829" name="Group 5"/>
          <p:cNvGraphicFramePr>
            <a:graphicFrameLocks noGrp="1"/>
          </p:cNvGraphicFramePr>
          <p:nvPr/>
        </p:nvGraphicFramePr>
        <p:xfrm>
          <a:off x="6732588" y="1143000"/>
          <a:ext cx="1163637" cy="1131065"/>
        </p:xfrm>
        <a:graphic>
          <a:graphicData uri="http://schemas.openxmlformats.org/drawingml/2006/table">
            <a:tbl>
              <a:tblPr/>
              <a:tblGrid>
                <a:gridCol w="373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j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d</a:t>
                      </a:r>
                      <a:r>
                        <a:rPr kumimoji="0" lang="pt-BR" sz="12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ij</a:t>
                      </a:r>
                      <a:endParaRPr kumimoji="0" lang="pt-BR" sz="12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8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5853" name="Oval 29"/>
          <p:cNvSpPr>
            <a:spLocks noChangeArrowheads="1"/>
          </p:cNvSpPr>
          <p:nvPr/>
        </p:nvSpPr>
        <p:spPr bwMode="auto">
          <a:xfrm>
            <a:off x="4292600" y="44196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3</a:t>
            </a:r>
          </a:p>
        </p:txBody>
      </p:sp>
      <p:sp>
        <p:nvSpPr>
          <p:cNvPr id="205854" name="Oval 30"/>
          <p:cNvSpPr>
            <a:spLocks noChangeArrowheads="1"/>
          </p:cNvSpPr>
          <p:nvPr/>
        </p:nvSpPr>
        <p:spPr bwMode="auto">
          <a:xfrm>
            <a:off x="3276600" y="35814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2</a:t>
            </a:r>
          </a:p>
        </p:txBody>
      </p:sp>
      <p:sp>
        <p:nvSpPr>
          <p:cNvPr id="205855" name="Oval 31"/>
          <p:cNvSpPr>
            <a:spLocks noChangeArrowheads="1"/>
          </p:cNvSpPr>
          <p:nvPr/>
        </p:nvSpPr>
        <p:spPr bwMode="auto">
          <a:xfrm>
            <a:off x="1879600" y="52832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5</a:t>
            </a:r>
          </a:p>
        </p:txBody>
      </p:sp>
      <p:sp>
        <p:nvSpPr>
          <p:cNvPr id="205856" name="Oval 32"/>
          <p:cNvSpPr>
            <a:spLocks noChangeArrowheads="1"/>
          </p:cNvSpPr>
          <p:nvPr/>
        </p:nvSpPr>
        <p:spPr bwMode="auto">
          <a:xfrm>
            <a:off x="838200" y="44196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6</a:t>
            </a:r>
          </a:p>
        </p:txBody>
      </p:sp>
      <p:graphicFrame>
        <p:nvGraphicFramePr>
          <p:cNvPr id="205857" name="Group 33"/>
          <p:cNvGraphicFramePr>
            <a:graphicFrameLocks noGrp="1"/>
          </p:cNvGraphicFramePr>
          <p:nvPr/>
        </p:nvGraphicFramePr>
        <p:xfrm>
          <a:off x="611188" y="1517650"/>
          <a:ext cx="2855912" cy="1920240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Cid.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8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5923" name="Oval 99"/>
          <p:cNvSpPr>
            <a:spLocks noChangeArrowheads="1"/>
          </p:cNvSpPr>
          <p:nvPr/>
        </p:nvSpPr>
        <p:spPr bwMode="auto">
          <a:xfrm>
            <a:off x="6659563" y="1727200"/>
            <a:ext cx="1308100" cy="228600"/>
          </a:xfrm>
          <a:prstGeom prst="ellips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05924" name="Rectangle 100"/>
          <p:cNvSpPr>
            <a:spLocks noGrp="1" noChangeArrowheads="1"/>
          </p:cNvSpPr>
          <p:nvPr>
            <p:ph type="body" idx="1"/>
          </p:nvPr>
        </p:nvSpPr>
        <p:spPr>
          <a:xfrm>
            <a:off x="5500688" y="4854575"/>
            <a:ext cx="1925637" cy="388938"/>
          </a:xfrm>
          <a:noFill/>
          <a:ln/>
        </p:spPr>
        <p:txBody>
          <a:bodyPr/>
          <a:lstStyle/>
          <a:p>
            <a:pPr marL="177800" indent="-177800"/>
            <a:r>
              <a:rPr lang="pt-BR" sz="1300" b="1"/>
              <a:t>Distância Total</a:t>
            </a:r>
            <a:r>
              <a:rPr lang="pt-BR" sz="1300"/>
              <a:t> </a:t>
            </a:r>
            <a:r>
              <a:rPr lang="pt-BR" sz="1300" b="1"/>
              <a:t>=</a:t>
            </a:r>
          </a:p>
        </p:txBody>
      </p:sp>
      <p:sp>
        <p:nvSpPr>
          <p:cNvPr id="205925" name="Text Box 101"/>
          <p:cNvSpPr txBox="1">
            <a:spLocks noChangeArrowheads="1"/>
          </p:cNvSpPr>
          <p:nvPr/>
        </p:nvSpPr>
        <p:spPr bwMode="auto">
          <a:xfrm>
            <a:off x="7164388" y="4867275"/>
            <a:ext cx="865187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BR" sz="1300">
                <a:latin typeface="Arial" charset="0"/>
              </a:rPr>
              <a:t>2 + 3 = 5</a:t>
            </a:r>
          </a:p>
        </p:txBody>
      </p:sp>
      <p:cxnSp>
        <p:nvCxnSpPr>
          <p:cNvPr id="205926" name="AutoShape 102"/>
          <p:cNvCxnSpPr>
            <a:cxnSpLocks noChangeShapeType="1"/>
            <a:stCxn id="205856" idx="7"/>
            <a:endCxn id="205827" idx="3"/>
          </p:cNvCxnSpPr>
          <p:nvPr/>
        </p:nvCxnSpPr>
        <p:spPr bwMode="auto">
          <a:xfrm flipV="1">
            <a:off x="1206500" y="3949700"/>
            <a:ext cx="73660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5927" name="Text Box 103"/>
          <p:cNvSpPr txBox="1">
            <a:spLocks noChangeArrowheads="1"/>
          </p:cNvSpPr>
          <p:nvPr/>
        </p:nvSpPr>
        <p:spPr bwMode="auto">
          <a:xfrm>
            <a:off x="1333500" y="40513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1</a:t>
            </a:r>
          </a:p>
        </p:txBody>
      </p:sp>
      <p:cxnSp>
        <p:nvCxnSpPr>
          <p:cNvPr id="205928" name="AutoShape 104"/>
          <p:cNvCxnSpPr>
            <a:cxnSpLocks noChangeShapeType="1"/>
            <a:stCxn id="205827" idx="6"/>
            <a:endCxn id="205853" idx="2"/>
          </p:cNvCxnSpPr>
          <p:nvPr/>
        </p:nvCxnSpPr>
        <p:spPr bwMode="auto">
          <a:xfrm>
            <a:off x="2311400" y="3797300"/>
            <a:ext cx="1981200" cy="838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5929" name="Text Box 105"/>
          <p:cNvSpPr txBox="1">
            <a:spLocks noChangeArrowheads="1"/>
          </p:cNvSpPr>
          <p:nvPr/>
        </p:nvSpPr>
        <p:spPr bwMode="auto">
          <a:xfrm>
            <a:off x="2576513" y="3746500"/>
            <a:ext cx="2682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1</a:t>
            </a:r>
          </a:p>
        </p:txBody>
      </p:sp>
      <p:cxnSp>
        <p:nvCxnSpPr>
          <p:cNvPr id="205930" name="AutoShape 106"/>
          <p:cNvCxnSpPr>
            <a:cxnSpLocks noChangeShapeType="1"/>
            <a:stCxn id="205853" idx="3"/>
            <a:endCxn id="205828" idx="7"/>
          </p:cNvCxnSpPr>
          <p:nvPr/>
        </p:nvCxnSpPr>
        <p:spPr bwMode="auto">
          <a:xfrm flipH="1">
            <a:off x="3644900" y="4787900"/>
            <a:ext cx="711200" cy="558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5931" name="Text Box 107"/>
          <p:cNvSpPr txBox="1">
            <a:spLocks noChangeArrowheads="1"/>
          </p:cNvSpPr>
          <p:nvPr/>
        </p:nvSpPr>
        <p:spPr bwMode="auto">
          <a:xfrm>
            <a:off x="3949700" y="49911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0155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5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05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05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0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3B3B1"/>
                                      </p:to>
                                    </p:animClr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5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5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5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5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923" grpId="0" animBg="1"/>
      <p:bldP spid="205924" grpId="0" build="p"/>
      <p:bldP spid="205925" grpId="0"/>
      <p:bldP spid="20593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1" name="Oval 3"/>
          <p:cNvSpPr>
            <a:spLocks noChangeArrowheads="1"/>
          </p:cNvSpPr>
          <p:nvPr/>
        </p:nvSpPr>
        <p:spPr bwMode="auto">
          <a:xfrm>
            <a:off x="1879600" y="35814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1</a:t>
            </a:r>
          </a:p>
        </p:txBody>
      </p:sp>
      <p:sp>
        <p:nvSpPr>
          <p:cNvPr id="206852" name="Oval 4"/>
          <p:cNvSpPr>
            <a:spLocks noChangeArrowheads="1"/>
          </p:cNvSpPr>
          <p:nvPr/>
        </p:nvSpPr>
        <p:spPr bwMode="auto">
          <a:xfrm>
            <a:off x="3276600" y="52832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4</a:t>
            </a:r>
          </a:p>
        </p:txBody>
      </p:sp>
      <p:graphicFrame>
        <p:nvGraphicFramePr>
          <p:cNvPr id="206853" name="Group 5"/>
          <p:cNvGraphicFramePr>
            <a:graphicFrameLocks noGrp="1"/>
          </p:cNvGraphicFramePr>
          <p:nvPr/>
        </p:nvGraphicFramePr>
        <p:xfrm>
          <a:off x="6732588" y="1143000"/>
          <a:ext cx="1163637" cy="854585"/>
        </p:xfrm>
        <a:graphic>
          <a:graphicData uri="http://schemas.openxmlformats.org/drawingml/2006/table">
            <a:tbl>
              <a:tblPr/>
              <a:tblGrid>
                <a:gridCol w="373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j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d</a:t>
                      </a:r>
                      <a:r>
                        <a:rPr kumimoji="0" lang="pt-BR" sz="12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ij</a:t>
                      </a:r>
                      <a:endParaRPr kumimoji="0" lang="pt-BR" sz="12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6873" name="Oval 25"/>
          <p:cNvSpPr>
            <a:spLocks noChangeArrowheads="1"/>
          </p:cNvSpPr>
          <p:nvPr/>
        </p:nvSpPr>
        <p:spPr bwMode="auto">
          <a:xfrm>
            <a:off x="4292600" y="44196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3</a:t>
            </a:r>
          </a:p>
        </p:txBody>
      </p:sp>
      <p:sp>
        <p:nvSpPr>
          <p:cNvPr id="206874" name="Oval 26"/>
          <p:cNvSpPr>
            <a:spLocks noChangeArrowheads="1"/>
          </p:cNvSpPr>
          <p:nvPr/>
        </p:nvSpPr>
        <p:spPr bwMode="auto">
          <a:xfrm>
            <a:off x="3276600" y="35814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2</a:t>
            </a:r>
          </a:p>
        </p:txBody>
      </p:sp>
      <p:sp>
        <p:nvSpPr>
          <p:cNvPr id="206875" name="Oval 27"/>
          <p:cNvSpPr>
            <a:spLocks noChangeArrowheads="1"/>
          </p:cNvSpPr>
          <p:nvPr/>
        </p:nvSpPr>
        <p:spPr bwMode="auto">
          <a:xfrm>
            <a:off x="1879600" y="52832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5</a:t>
            </a:r>
          </a:p>
        </p:txBody>
      </p:sp>
      <p:sp>
        <p:nvSpPr>
          <p:cNvPr id="206876" name="Oval 28"/>
          <p:cNvSpPr>
            <a:spLocks noChangeArrowheads="1"/>
          </p:cNvSpPr>
          <p:nvPr/>
        </p:nvSpPr>
        <p:spPr bwMode="auto">
          <a:xfrm>
            <a:off x="838200" y="44196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6</a:t>
            </a:r>
          </a:p>
        </p:txBody>
      </p:sp>
      <p:graphicFrame>
        <p:nvGraphicFramePr>
          <p:cNvPr id="206877" name="Group 29"/>
          <p:cNvGraphicFramePr>
            <a:graphicFrameLocks noGrp="1"/>
          </p:cNvGraphicFramePr>
          <p:nvPr/>
        </p:nvGraphicFramePr>
        <p:xfrm>
          <a:off x="611188" y="1517650"/>
          <a:ext cx="2855912" cy="1920240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Cid.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8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6943" name="Oval 95"/>
          <p:cNvSpPr>
            <a:spLocks noChangeArrowheads="1"/>
          </p:cNvSpPr>
          <p:nvPr/>
        </p:nvSpPr>
        <p:spPr bwMode="auto">
          <a:xfrm>
            <a:off x="6659563" y="1727200"/>
            <a:ext cx="1308100" cy="228600"/>
          </a:xfrm>
          <a:prstGeom prst="ellips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06944" name="Rectangle 96"/>
          <p:cNvSpPr>
            <a:spLocks noGrp="1" noChangeArrowheads="1"/>
          </p:cNvSpPr>
          <p:nvPr>
            <p:ph type="body" idx="1"/>
          </p:nvPr>
        </p:nvSpPr>
        <p:spPr>
          <a:xfrm>
            <a:off x="5500688" y="4854575"/>
            <a:ext cx="1925637" cy="388938"/>
          </a:xfrm>
          <a:noFill/>
          <a:ln/>
        </p:spPr>
        <p:txBody>
          <a:bodyPr/>
          <a:lstStyle/>
          <a:p>
            <a:pPr marL="177800" indent="-177800"/>
            <a:r>
              <a:rPr lang="pt-BR" sz="1300" b="1"/>
              <a:t>Distância Total</a:t>
            </a:r>
            <a:r>
              <a:rPr lang="pt-BR" sz="1300"/>
              <a:t> </a:t>
            </a:r>
            <a:r>
              <a:rPr lang="pt-BR" sz="1300" b="1"/>
              <a:t>=</a:t>
            </a:r>
          </a:p>
        </p:txBody>
      </p:sp>
      <p:sp>
        <p:nvSpPr>
          <p:cNvPr id="206945" name="Text Box 97"/>
          <p:cNvSpPr txBox="1">
            <a:spLocks noChangeArrowheads="1"/>
          </p:cNvSpPr>
          <p:nvPr/>
        </p:nvSpPr>
        <p:spPr bwMode="auto">
          <a:xfrm>
            <a:off x="7164388" y="4867275"/>
            <a:ext cx="86360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BR" sz="1300">
                <a:latin typeface="Arial" charset="0"/>
              </a:rPr>
              <a:t>5 + 2 = 7</a:t>
            </a:r>
          </a:p>
        </p:txBody>
      </p:sp>
      <p:cxnSp>
        <p:nvCxnSpPr>
          <p:cNvPr id="206946" name="AutoShape 98"/>
          <p:cNvCxnSpPr>
            <a:cxnSpLocks noChangeShapeType="1"/>
            <a:stCxn id="206876" idx="7"/>
            <a:endCxn id="206851" idx="3"/>
          </p:cNvCxnSpPr>
          <p:nvPr/>
        </p:nvCxnSpPr>
        <p:spPr bwMode="auto">
          <a:xfrm flipV="1">
            <a:off x="1206500" y="3949700"/>
            <a:ext cx="73660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6947" name="Text Box 99"/>
          <p:cNvSpPr txBox="1">
            <a:spLocks noChangeArrowheads="1"/>
          </p:cNvSpPr>
          <p:nvPr/>
        </p:nvSpPr>
        <p:spPr bwMode="auto">
          <a:xfrm>
            <a:off x="1333500" y="40513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1</a:t>
            </a:r>
          </a:p>
        </p:txBody>
      </p:sp>
      <p:cxnSp>
        <p:nvCxnSpPr>
          <p:cNvPr id="206948" name="AutoShape 100"/>
          <p:cNvCxnSpPr>
            <a:cxnSpLocks noChangeShapeType="1"/>
            <a:stCxn id="206851" idx="6"/>
            <a:endCxn id="206873" idx="2"/>
          </p:cNvCxnSpPr>
          <p:nvPr/>
        </p:nvCxnSpPr>
        <p:spPr bwMode="auto">
          <a:xfrm>
            <a:off x="2311400" y="3797300"/>
            <a:ext cx="1981200" cy="838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6949" name="Text Box 101"/>
          <p:cNvSpPr txBox="1">
            <a:spLocks noChangeArrowheads="1"/>
          </p:cNvSpPr>
          <p:nvPr/>
        </p:nvSpPr>
        <p:spPr bwMode="auto">
          <a:xfrm>
            <a:off x="2576513" y="3746500"/>
            <a:ext cx="2682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1</a:t>
            </a:r>
          </a:p>
        </p:txBody>
      </p:sp>
      <p:cxnSp>
        <p:nvCxnSpPr>
          <p:cNvPr id="206950" name="AutoShape 102"/>
          <p:cNvCxnSpPr>
            <a:cxnSpLocks noChangeShapeType="1"/>
            <a:stCxn id="206873" idx="3"/>
            <a:endCxn id="206852" idx="7"/>
          </p:cNvCxnSpPr>
          <p:nvPr/>
        </p:nvCxnSpPr>
        <p:spPr bwMode="auto">
          <a:xfrm flipH="1">
            <a:off x="3644900" y="4787900"/>
            <a:ext cx="711200" cy="558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6951" name="Text Box 103"/>
          <p:cNvSpPr txBox="1">
            <a:spLocks noChangeArrowheads="1"/>
          </p:cNvSpPr>
          <p:nvPr/>
        </p:nvSpPr>
        <p:spPr bwMode="auto">
          <a:xfrm>
            <a:off x="3949700" y="49911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3</a:t>
            </a:r>
          </a:p>
        </p:txBody>
      </p:sp>
      <p:cxnSp>
        <p:nvCxnSpPr>
          <p:cNvPr id="206952" name="AutoShape 104"/>
          <p:cNvCxnSpPr>
            <a:cxnSpLocks noChangeShapeType="1"/>
            <a:stCxn id="206852" idx="2"/>
            <a:endCxn id="206875" idx="6"/>
          </p:cNvCxnSpPr>
          <p:nvPr/>
        </p:nvCxnSpPr>
        <p:spPr bwMode="auto">
          <a:xfrm flipH="1">
            <a:off x="2311400" y="5499100"/>
            <a:ext cx="965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6953" name="Text Box 105"/>
          <p:cNvSpPr txBox="1">
            <a:spLocks noChangeArrowheads="1"/>
          </p:cNvSpPr>
          <p:nvPr/>
        </p:nvSpPr>
        <p:spPr bwMode="auto">
          <a:xfrm>
            <a:off x="2692400" y="5465763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2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>
          <a:xfrm>
            <a:off x="1065213" y="560388"/>
            <a:ext cx="7239000" cy="565150"/>
          </a:xfrm>
        </p:spPr>
        <p:txBody>
          <a:bodyPr>
            <a:normAutofit fontScale="90000"/>
          </a:bodyPr>
          <a:lstStyle/>
          <a:p>
            <a:pPr algn="ctr"/>
            <a:r>
              <a:rPr lang="pt-BR" sz="3300" dirty="0"/>
              <a:t>PCV – Vizinho mais Próximo</a:t>
            </a:r>
            <a:br>
              <a:rPr lang="pt-BR" sz="3300" dirty="0"/>
            </a:br>
            <a:r>
              <a:rPr lang="pt-BR" sz="3300" dirty="0"/>
              <a:t>Exemplo - Passo 4</a:t>
            </a:r>
          </a:p>
        </p:txBody>
      </p:sp>
    </p:spTree>
    <p:extLst>
      <p:ext uri="{BB962C8B-B14F-4D97-AF65-F5344CB8AC3E}">
        <p14:creationId xmlns:p14="http://schemas.microsoft.com/office/powerpoint/2010/main" val="3021175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6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06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06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000" fill="hold"/>
                                        <p:tgtEl>
                                          <p:spTgt spid="2068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3B3B1"/>
                                      </p:to>
                                    </p:animClr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2068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2068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6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6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6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6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943" grpId="0" animBg="1"/>
      <p:bldP spid="206944" grpId="0" build="p"/>
      <p:bldP spid="206945" grpId="0"/>
      <p:bldP spid="20695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5" name="Oval 3"/>
          <p:cNvSpPr>
            <a:spLocks noChangeArrowheads="1"/>
          </p:cNvSpPr>
          <p:nvPr/>
        </p:nvSpPr>
        <p:spPr bwMode="auto">
          <a:xfrm>
            <a:off x="1879600" y="35814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1</a:t>
            </a:r>
          </a:p>
        </p:txBody>
      </p:sp>
      <p:sp>
        <p:nvSpPr>
          <p:cNvPr id="207876" name="Oval 4"/>
          <p:cNvSpPr>
            <a:spLocks noChangeArrowheads="1"/>
          </p:cNvSpPr>
          <p:nvPr/>
        </p:nvSpPr>
        <p:spPr bwMode="auto">
          <a:xfrm>
            <a:off x="3276600" y="52832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4</a:t>
            </a:r>
          </a:p>
        </p:txBody>
      </p:sp>
      <p:graphicFrame>
        <p:nvGraphicFramePr>
          <p:cNvPr id="207877" name="Group 5"/>
          <p:cNvGraphicFramePr>
            <a:graphicFrameLocks noGrp="1"/>
          </p:cNvGraphicFramePr>
          <p:nvPr/>
        </p:nvGraphicFramePr>
        <p:xfrm>
          <a:off x="6732588" y="1143000"/>
          <a:ext cx="1163637" cy="578105"/>
        </p:xfrm>
        <a:graphic>
          <a:graphicData uri="http://schemas.openxmlformats.org/drawingml/2006/table">
            <a:tbl>
              <a:tblPr/>
              <a:tblGrid>
                <a:gridCol w="373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j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d</a:t>
                      </a:r>
                      <a:r>
                        <a:rPr kumimoji="0" lang="pt-BR" sz="12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ij</a:t>
                      </a:r>
                      <a:endParaRPr kumimoji="0" lang="pt-BR" sz="12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7893" name="Oval 21"/>
          <p:cNvSpPr>
            <a:spLocks noChangeArrowheads="1"/>
          </p:cNvSpPr>
          <p:nvPr/>
        </p:nvSpPr>
        <p:spPr bwMode="auto">
          <a:xfrm>
            <a:off x="4292600" y="44196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3</a:t>
            </a:r>
          </a:p>
        </p:txBody>
      </p:sp>
      <p:sp>
        <p:nvSpPr>
          <p:cNvPr id="207894" name="Oval 22"/>
          <p:cNvSpPr>
            <a:spLocks noChangeArrowheads="1"/>
          </p:cNvSpPr>
          <p:nvPr/>
        </p:nvSpPr>
        <p:spPr bwMode="auto">
          <a:xfrm>
            <a:off x="3276600" y="35814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2</a:t>
            </a:r>
          </a:p>
        </p:txBody>
      </p:sp>
      <p:sp>
        <p:nvSpPr>
          <p:cNvPr id="207895" name="Oval 23"/>
          <p:cNvSpPr>
            <a:spLocks noChangeArrowheads="1"/>
          </p:cNvSpPr>
          <p:nvPr/>
        </p:nvSpPr>
        <p:spPr bwMode="auto">
          <a:xfrm>
            <a:off x="1879600" y="52832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5</a:t>
            </a:r>
          </a:p>
        </p:txBody>
      </p:sp>
      <p:sp>
        <p:nvSpPr>
          <p:cNvPr id="207896" name="Oval 24"/>
          <p:cNvSpPr>
            <a:spLocks noChangeArrowheads="1"/>
          </p:cNvSpPr>
          <p:nvPr/>
        </p:nvSpPr>
        <p:spPr bwMode="auto">
          <a:xfrm>
            <a:off x="838200" y="44196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6</a:t>
            </a:r>
          </a:p>
        </p:txBody>
      </p:sp>
      <p:graphicFrame>
        <p:nvGraphicFramePr>
          <p:cNvPr id="207897" name="Group 25"/>
          <p:cNvGraphicFramePr>
            <a:graphicFrameLocks noGrp="1"/>
          </p:cNvGraphicFramePr>
          <p:nvPr/>
        </p:nvGraphicFramePr>
        <p:xfrm>
          <a:off x="611188" y="1517650"/>
          <a:ext cx="2855912" cy="1920240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Cid.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8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7963" name="Rectangle 91"/>
          <p:cNvSpPr>
            <a:spLocks noGrp="1" noChangeArrowheads="1"/>
          </p:cNvSpPr>
          <p:nvPr>
            <p:ph type="body" idx="1"/>
          </p:nvPr>
        </p:nvSpPr>
        <p:spPr>
          <a:xfrm>
            <a:off x="5500688" y="4854575"/>
            <a:ext cx="1925637" cy="388938"/>
          </a:xfrm>
          <a:noFill/>
          <a:ln/>
        </p:spPr>
        <p:txBody>
          <a:bodyPr/>
          <a:lstStyle/>
          <a:p>
            <a:pPr marL="177800" indent="-177800"/>
            <a:r>
              <a:rPr lang="pt-BR" sz="1300" b="1"/>
              <a:t>Distância Total</a:t>
            </a:r>
            <a:r>
              <a:rPr lang="pt-BR" sz="1300"/>
              <a:t> </a:t>
            </a:r>
            <a:r>
              <a:rPr lang="pt-BR" sz="1300" b="1"/>
              <a:t>=</a:t>
            </a:r>
          </a:p>
        </p:txBody>
      </p:sp>
      <p:sp>
        <p:nvSpPr>
          <p:cNvPr id="207964" name="Text Box 92"/>
          <p:cNvSpPr txBox="1">
            <a:spLocks noChangeArrowheads="1"/>
          </p:cNvSpPr>
          <p:nvPr/>
        </p:nvSpPr>
        <p:spPr bwMode="auto">
          <a:xfrm>
            <a:off x="7164388" y="4867275"/>
            <a:ext cx="107950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BR" sz="1300">
                <a:latin typeface="Arial" charset="0"/>
              </a:rPr>
              <a:t>7 + 7 = 14</a:t>
            </a:r>
          </a:p>
        </p:txBody>
      </p:sp>
      <p:cxnSp>
        <p:nvCxnSpPr>
          <p:cNvPr id="207965" name="AutoShape 93"/>
          <p:cNvCxnSpPr>
            <a:cxnSpLocks noChangeShapeType="1"/>
            <a:stCxn id="207896" idx="7"/>
            <a:endCxn id="207875" idx="3"/>
          </p:cNvCxnSpPr>
          <p:nvPr/>
        </p:nvCxnSpPr>
        <p:spPr bwMode="auto">
          <a:xfrm flipV="1">
            <a:off x="1206500" y="3949700"/>
            <a:ext cx="73660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7966" name="Text Box 94"/>
          <p:cNvSpPr txBox="1">
            <a:spLocks noChangeArrowheads="1"/>
          </p:cNvSpPr>
          <p:nvPr/>
        </p:nvSpPr>
        <p:spPr bwMode="auto">
          <a:xfrm>
            <a:off x="1333500" y="40513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1</a:t>
            </a:r>
          </a:p>
        </p:txBody>
      </p:sp>
      <p:cxnSp>
        <p:nvCxnSpPr>
          <p:cNvPr id="207967" name="AutoShape 95"/>
          <p:cNvCxnSpPr>
            <a:cxnSpLocks noChangeShapeType="1"/>
            <a:stCxn id="207875" idx="6"/>
            <a:endCxn id="207893" idx="2"/>
          </p:cNvCxnSpPr>
          <p:nvPr/>
        </p:nvCxnSpPr>
        <p:spPr bwMode="auto">
          <a:xfrm>
            <a:off x="2311400" y="3797300"/>
            <a:ext cx="1981200" cy="838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7968" name="Text Box 96"/>
          <p:cNvSpPr txBox="1">
            <a:spLocks noChangeArrowheads="1"/>
          </p:cNvSpPr>
          <p:nvPr/>
        </p:nvSpPr>
        <p:spPr bwMode="auto">
          <a:xfrm>
            <a:off x="2576513" y="3746500"/>
            <a:ext cx="2682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1</a:t>
            </a:r>
          </a:p>
        </p:txBody>
      </p:sp>
      <p:cxnSp>
        <p:nvCxnSpPr>
          <p:cNvPr id="207969" name="AutoShape 97"/>
          <p:cNvCxnSpPr>
            <a:cxnSpLocks noChangeShapeType="1"/>
            <a:stCxn id="207893" idx="3"/>
            <a:endCxn id="207876" idx="7"/>
          </p:cNvCxnSpPr>
          <p:nvPr/>
        </p:nvCxnSpPr>
        <p:spPr bwMode="auto">
          <a:xfrm flipH="1">
            <a:off x="3644900" y="4787900"/>
            <a:ext cx="711200" cy="558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7970" name="Text Box 98"/>
          <p:cNvSpPr txBox="1">
            <a:spLocks noChangeArrowheads="1"/>
          </p:cNvSpPr>
          <p:nvPr/>
        </p:nvSpPr>
        <p:spPr bwMode="auto">
          <a:xfrm>
            <a:off x="3949700" y="49911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3</a:t>
            </a:r>
          </a:p>
        </p:txBody>
      </p:sp>
      <p:cxnSp>
        <p:nvCxnSpPr>
          <p:cNvPr id="207971" name="AutoShape 99"/>
          <p:cNvCxnSpPr>
            <a:cxnSpLocks noChangeShapeType="1"/>
            <a:stCxn id="207876" idx="2"/>
            <a:endCxn id="207895" idx="6"/>
          </p:cNvCxnSpPr>
          <p:nvPr/>
        </p:nvCxnSpPr>
        <p:spPr bwMode="auto">
          <a:xfrm flipH="1">
            <a:off x="2311400" y="5499100"/>
            <a:ext cx="965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7972" name="Text Box 100"/>
          <p:cNvSpPr txBox="1">
            <a:spLocks noChangeArrowheads="1"/>
          </p:cNvSpPr>
          <p:nvPr/>
        </p:nvSpPr>
        <p:spPr bwMode="auto">
          <a:xfrm>
            <a:off x="2692400" y="5465763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2</a:t>
            </a:r>
          </a:p>
        </p:txBody>
      </p:sp>
      <p:cxnSp>
        <p:nvCxnSpPr>
          <p:cNvPr id="207973" name="AutoShape 101"/>
          <p:cNvCxnSpPr>
            <a:cxnSpLocks noChangeShapeType="1"/>
            <a:stCxn id="207895" idx="7"/>
            <a:endCxn id="207894" idx="3"/>
          </p:cNvCxnSpPr>
          <p:nvPr/>
        </p:nvCxnSpPr>
        <p:spPr bwMode="auto">
          <a:xfrm flipV="1">
            <a:off x="2247900" y="3949700"/>
            <a:ext cx="1092200" cy="13970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7974" name="Text Box 102"/>
          <p:cNvSpPr txBox="1">
            <a:spLocks noChangeArrowheads="1"/>
          </p:cNvSpPr>
          <p:nvPr/>
        </p:nvSpPr>
        <p:spPr bwMode="auto">
          <a:xfrm>
            <a:off x="2705100" y="46228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7</a:t>
            </a:r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5213" y="560388"/>
            <a:ext cx="7239000" cy="565150"/>
          </a:xfrm>
        </p:spPr>
        <p:txBody>
          <a:bodyPr>
            <a:normAutofit fontScale="90000"/>
          </a:bodyPr>
          <a:lstStyle/>
          <a:p>
            <a:pPr algn="ctr"/>
            <a:r>
              <a:rPr lang="pt-BR" sz="3300" dirty="0"/>
              <a:t>PCV – Vizinho mais Próximo</a:t>
            </a:r>
            <a:br>
              <a:rPr lang="pt-BR" sz="3300" dirty="0"/>
            </a:br>
            <a:r>
              <a:rPr lang="pt-BR" sz="3300" dirty="0"/>
              <a:t>Exemplo - Passo 5</a:t>
            </a:r>
          </a:p>
        </p:txBody>
      </p:sp>
    </p:spTree>
    <p:extLst>
      <p:ext uri="{BB962C8B-B14F-4D97-AF65-F5344CB8AC3E}">
        <p14:creationId xmlns:p14="http://schemas.microsoft.com/office/powerpoint/2010/main" val="153228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07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07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2078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3B3B1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2078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2078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7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7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7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7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963" grpId="0" build="p"/>
      <p:bldP spid="207964" grpId="0"/>
      <p:bldP spid="20797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628650"/>
            <a:ext cx="8064500" cy="6397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3300"/>
              <a:t>PCV – Vizinho mais Próximo</a:t>
            </a:r>
            <a:br>
              <a:rPr lang="pt-BR" sz="3300"/>
            </a:br>
            <a:r>
              <a:rPr lang="pt-BR" sz="3300"/>
              <a:t>Exemplo – Passo final: “Inserção forçada”</a:t>
            </a:r>
          </a:p>
        </p:txBody>
      </p:sp>
      <p:sp>
        <p:nvSpPr>
          <p:cNvPr id="208899" name="Oval 3"/>
          <p:cNvSpPr>
            <a:spLocks noChangeArrowheads="1"/>
          </p:cNvSpPr>
          <p:nvPr/>
        </p:nvSpPr>
        <p:spPr bwMode="auto">
          <a:xfrm>
            <a:off x="1879600" y="35814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1</a:t>
            </a:r>
          </a:p>
        </p:txBody>
      </p:sp>
      <p:sp>
        <p:nvSpPr>
          <p:cNvPr id="208900" name="Oval 4"/>
          <p:cNvSpPr>
            <a:spLocks noChangeArrowheads="1"/>
          </p:cNvSpPr>
          <p:nvPr/>
        </p:nvSpPr>
        <p:spPr bwMode="auto">
          <a:xfrm>
            <a:off x="3276600" y="52832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4</a:t>
            </a:r>
          </a:p>
        </p:txBody>
      </p:sp>
      <p:sp>
        <p:nvSpPr>
          <p:cNvPr id="208901" name="Oval 5"/>
          <p:cNvSpPr>
            <a:spLocks noChangeArrowheads="1"/>
          </p:cNvSpPr>
          <p:nvPr/>
        </p:nvSpPr>
        <p:spPr bwMode="auto">
          <a:xfrm>
            <a:off x="4292600" y="44196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3</a:t>
            </a:r>
          </a:p>
        </p:txBody>
      </p:sp>
      <p:sp>
        <p:nvSpPr>
          <p:cNvPr id="208902" name="Oval 6"/>
          <p:cNvSpPr>
            <a:spLocks noChangeArrowheads="1"/>
          </p:cNvSpPr>
          <p:nvPr/>
        </p:nvSpPr>
        <p:spPr bwMode="auto">
          <a:xfrm>
            <a:off x="3276600" y="35814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2</a:t>
            </a:r>
          </a:p>
        </p:txBody>
      </p:sp>
      <p:sp>
        <p:nvSpPr>
          <p:cNvPr id="208903" name="Oval 7"/>
          <p:cNvSpPr>
            <a:spLocks noChangeArrowheads="1"/>
          </p:cNvSpPr>
          <p:nvPr/>
        </p:nvSpPr>
        <p:spPr bwMode="auto">
          <a:xfrm>
            <a:off x="1879600" y="52832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5</a:t>
            </a:r>
          </a:p>
        </p:txBody>
      </p:sp>
      <p:sp>
        <p:nvSpPr>
          <p:cNvPr id="208904" name="Oval 8"/>
          <p:cNvSpPr>
            <a:spLocks noChangeArrowheads="1"/>
          </p:cNvSpPr>
          <p:nvPr/>
        </p:nvSpPr>
        <p:spPr bwMode="auto">
          <a:xfrm>
            <a:off x="838200" y="44196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6</a:t>
            </a:r>
          </a:p>
        </p:txBody>
      </p:sp>
      <p:graphicFrame>
        <p:nvGraphicFramePr>
          <p:cNvPr id="208905" name="Group 9"/>
          <p:cNvGraphicFramePr>
            <a:graphicFrameLocks noGrp="1"/>
          </p:cNvGraphicFramePr>
          <p:nvPr/>
        </p:nvGraphicFramePr>
        <p:xfrm>
          <a:off x="611188" y="1517650"/>
          <a:ext cx="2855912" cy="1920240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Cid.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8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8971" name="Rectangle 75"/>
          <p:cNvSpPr>
            <a:spLocks noGrp="1" noChangeArrowheads="1"/>
          </p:cNvSpPr>
          <p:nvPr>
            <p:ph type="body" idx="1"/>
          </p:nvPr>
        </p:nvSpPr>
        <p:spPr>
          <a:xfrm>
            <a:off x="5219700" y="4854575"/>
            <a:ext cx="1925638" cy="388938"/>
          </a:xfrm>
          <a:noFill/>
          <a:ln/>
        </p:spPr>
        <p:txBody>
          <a:bodyPr/>
          <a:lstStyle/>
          <a:p>
            <a:pPr marL="177800" indent="-177800"/>
            <a:r>
              <a:rPr lang="pt-BR" sz="1300" b="1"/>
              <a:t>Distância Total</a:t>
            </a:r>
            <a:r>
              <a:rPr lang="pt-BR" sz="1300"/>
              <a:t> </a:t>
            </a:r>
            <a:r>
              <a:rPr lang="pt-BR" sz="1300" b="1"/>
              <a:t>=</a:t>
            </a:r>
          </a:p>
        </p:txBody>
      </p:sp>
      <p:sp>
        <p:nvSpPr>
          <p:cNvPr id="208972" name="Text Box 76"/>
          <p:cNvSpPr txBox="1">
            <a:spLocks noChangeArrowheads="1"/>
          </p:cNvSpPr>
          <p:nvPr/>
        </p:nvSpPr>
        <p:spPr bwMode="auto">
          <a:xfrm>
            <a:off x="6877050" y="4867275"/>
            <a:ext cx="107950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BR" sz="1300">
                <a:latin typeface="Arial" charset="0"/>
              </a:rPr>
              <a:t>14 + 2 = 16</a:t>
            </a:r>
          </a:p>
        </p:txBody>
      </p:sp>
      <p:cxnSp>
        <p:nvCxnSpPr>
          <p:cNvPr id="208973" name="AutoShape 77"/>
          <p:cNvCxnSpPr>
            <a:cxnSpLocks noChangeShapeType="1"/>
            <a:stCxn id="208904" idx="7"/>
            <a:endCxn id="208899" idx="3"/>
          </p:cNvCxnSpPr>
          <p:nvPr/>
        </p:nvCxnSpPr>
        <p:spPr bwMode="auto">
          <a:xfrm flipV="1">
            <a:off x="1206500" y="3949700"/>
            <a:ext cx="73660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8974" name="Text Box 78"/>
          <p:cNvSpPr txBox="1">
            <a:spLocks noChangeArrowheads="1"/>
          </p:cNvSpPr>
          <p:nvPr/>
        </p:nvSpPr>
        <p:spPr bwMode="auto">
          <a:xfrm>
            <a:off x="1333500" y="40513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1</a:t>
            </a:r>
          </a:p>
        </p:txBody>
      </p:sp>
      <p:cxnSp>
        <p:nvCxnSpPr>
          <p:cNvPr id="208975" name="AutoShape 79"/>
          <p:cNvCxnSpPr>
            <a:cxnSpLocks noChangeShapeType="1"/>
            <a:stCxn id="208899" idx="6"/>
            <a:endCxn id="208901" idx="2"/>
          </p:cNvCxnSpPr>
          <p:nvPr/>
        </p:nvCxnSpPr>
        <p:spPr bwMode="auto">
          <a:xfrm>
            <a:off x="2311400" y="3797300"/>
            <a:ext cx="1981200" cy="838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8976" name="Text Box 80"/>
          <p:cNvSpPr txBox="1">
            <a:spLocks noChangeArrowheads="1"/>
          </p:cNvSpPr>
          <p:nvPr/>
        </p:nvSpPr>
        <p:spPr bwMode="auto">
          <a:xfrm>
            <a:off x="2463800" y="36957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1</a:t>
            </a:r>
          </a:p>
        </p:txBody>
      </p:sp>
      <p:cxnSp>
        <p:nvCxnSpPr>
          <p:cNvPr id="208977" name="AutoShape 81"/>
          <p:cNvCxnSpPr>
            <a:cxnSpLocks noChangeShapeType="1"/>
            <a:stCxn id="208901" idx="3"/>
            <a:endCxn id="208900" idx="7"/>
          </p:cNvCxnSpPr>
          <p:nvPr/>
        </p:nvCxnSpPr>
        <p:spPr bwMode="auto">
          <a:xfrm flipH="1">
            <a:off x="3644900" y="4787900"/>
            <a:ext cx="711200" cy="558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8978" name="Text Box 82"/>
          <p:cNvSpPr txBox="1">
            <a:spLocks noChangeArrowheads="1"/>
          </p:cNvSpPr>
          <p:nvPr/>
        </p:nvSpPr>
        <p:spPr bwMode="auto">
          <a:xfrm>
            <a:off x="3949700" y="49911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3</a:t>
            </a:r>
          </a:p>
        </p:txBody>
      </p:sp>
      <p:cxnSp>
        <p:nvCxnSpPr>
          <p:cNvPr id="208979" name="AutoShape 83"/>
          <p:cNvCxnSpPr>
            <a:cxnSpLocks noChangeShapeType="1"/>
            <a:stCxn id="208900" idx="2"/>
            <a:endCxn id="208903" idx="6"/>
          </p:cNvCxnSpPr>
          <p:nvPr/>
        </p:nvCxnSpPr>
        <p:spPr bwMode="auto">
          <a:xfrm flipH="1">
            <a:off x="2311400" y="5499100"/>
            <a:ext cx="965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8980" name="Text Box 84"/>
          <p:cNvSpPr txBox="1">
            <a:spLocks noChangeArrowheads="1"/>
          </p:cNvSpPr>
          <p:nvPr/>
        </p:nvSpPr>
        <p:spPr bwMode="auto">
          <a:xfrm>
            <a:off x="2692400" y="5465763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2</a:t>
            </a:r>
          </a:p>
        </p:txBody>
      </p:sp>
      <p:cxnSp>
        <p:nvCxnSpPr>
          <p:cNvPr id="208981" name="AutoShape 85"/>
          <p:cNvCxnSpPr>
            <a:cxnSpLocks noChangeShapeType="1"/>
            <a:stCxn id="208903" idx="7"/>
            <a:endCxn id="208902" idx="3"/>
          </p:cNvCxnSpPr>
          <p:nvPr/>
        </p:nvCxnSpPr>
        <p:spPr bwMode="auto">
          <a:xfrm flipV="1">
            <a:off x="2247900" y="3949700"/>
            <a:ext cx="1092200" cy="13970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8982" name="Text Box 86"/>
          <p:cNvSpPr txBox="1">
            <a:spLocks noChangeArrowheads="1"/>
          </p:cNvSpPr>
          <p:nvPr/>
        </p:nvSpPr>
        <p:spPr bwMode="auto">
          <a:xfrm>
            <a:off x="2705100" y="46228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7</a:t>
            </a:r>
          </a:p>
        </p:txBody>
      </p:sp>
      <p:cxnSp>
        <p:nvCxnSpPr>
          <p:cNvPr id="208983" name="AutoShape 87"/>
          <p:cNvCxnSpPr>
            <a:cxnSpLocks noChangeShapeType="1"/>
            <a:stCxn id="208902" idx="2"/>
            <a:endCxn id="208904" idx="6"/>
          </p:cNvCxnSpPr>
          <p:nvPr/>
        </p:nvCxnSpPr>
        <p:spPr bwMode="auto">
          <a:xfrm flipH="1">
            <a:off x="1270000" y="3797300"/>
            <a:ext cx="2006600" cy="838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8984" name="Text Box 88"/>
          <p:cNvSpPr txBox="1">
            <a:spLocks noChangeArrowheads="1"/>
          </p:cNvSpPr>
          <p:nvPr/>
        </p:nvSpPr>
        <p:spPr bwMode="auto">
          <a:xfrm>
            <a:off x="2017713" y="4241800"/>
            <a:ext cx="2682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8056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08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08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8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8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8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8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71" grpId="0" build="p"/>
      <p:bldP spid="208972" grpId="0"/>
      <p:bldP spid="20898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Construtivos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Algoritmo Guloso ou algoritmo construtivo</a:t>
            </a:r>
          </a:p>
          <a:p>
            <a:pPr lvl="1"/>
            <a:r>
              <a:rPr lang="pt-BR" dirty="0"/>
              <a:t>Exemplo: PCV</a:t>
            </a:r>
          </a:p>
          <a:p>
            <a:pPr lvl="2"/>
            <a:r>
              <a:rPr lang="pt-BR" dirty="0"/>
              <a:t>E: Conjunto das arestas</a:t>
            </a:r>
          </a:p>
          <a:p>
            <a:pPr lvl="2"/>
            <a:r>
              <a:rPr lang="pt-BR" dirty="0"/>
              <a:t>Heurística Local: Selecionar o vizinho mais próximo</a:t>
            </a:r>
          </a:p>
          <a:p>
            <a:pPr lvl="2"/>
            <a:r>
              <a:rPr lang="pt-BR" dirty="0"/>
              <a:t>Iniciar pelo nó A</a:t>
            </a:r>
          </a:p>
          <a:p>
            <a:endParaRPr lang="pt-B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2420" y="2823175"/>
            <a:ext cx="6995889" cy="3907548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</p:pic>
      <p:sp>
        <p:nvSpPr>
          <p:cNvPr id="4" name="Oval 3"/>
          <p:cNvSpPr/>
          <p:nvPr/>
        </p:nvSpPr>
        <p:spPr>
          <a:xfrm>
            <a:off x="1034477" y="4471936"/>
            <a:ext cx="369455" cy="369455"/>
          </a:xfrm>
          <a:prstGeom prst="ellipse">
            <a:avLst/>
          </a:prstGeom>
          <a:noFill/>
          <a:ln w="28575" cmpd="sng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428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Métodos</a:t>
            </a:r>
            <a:r>
              <a:rPr lang="en-US" dirty="0"/>
              <a:t> </a:t>
            </a:r>
            <a:r>
              <a:rPr lang="en-US" dirty="0" err="1"/>
              <a:t>Construtivos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PCV – </a:t>
            </a:r>
            <a:r>
              <a:rPr lang="en-US" dirty="0" err="1"/>
              <a:t>Inserção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barata</a:t>
            </a:r>
            <a:endParaRPr lang="en-US" dirty="0"/>
          </a:p>
          <a:p>
            <a:pPr lvl="1">
              <a:lnSpc>
                <a:spcPct val="80000"/>
              </a:lnSpc>
            </a:pPr>
            <a:r>
              <a:rPr lang="pt-BR" dirty="0"/>
              <a:t>Ideia central: Construir uma rota passo a passo, partindo de rota inicial envolvendo 3 cidades e adicionar a cada passo, a cidade </a:t>
            </a:r>
            <a:r>
              <a:rPr lang="pt-BR" i="1" dirty="0" err="1"/>
              <a:t>k</a:t>
            </a:r>
            <a:r>
              <a:rPr lang="pt-BR" dirty="0"/>
              <a:t> (ainda não visitada) entre a ligação (</a:t>
            </a:r>
            <a:r>
              <a:rPr lang="pt-BR" i="1" dirty="0" err="1"/>
              <a:t>i</a:t>
            </a:r>
            <a:r>
              <a:rPr lang="pt-BR" i="1" dirty="0"/>
              <a:t>,</a:t>
            </a:r>
            <a:r>
              <a:rPr lang="pt-BR" dirty="0"/>
              <a:t> </a:t>
            </a:r>
            <a:r>
              <a:rPr lang="pt-BR" i="1" dirty="0" err="1"/>
              <a:t>j</a:t>
            </a:r>
            <a:r>
              <a:rPr lang="pt-BR" dirty="0"/>
              <a:t> ) de cidades já visitadas, cujo custo de inserção seja o mais barato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336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3201"/>
            <a:ext cx="7991475" cy="1138238"/>
          </a:xfrm>
        </p:spPr>
        <p:txBody>
          <a:bodyPr>
            <a:normAutofit fontScale="90000"/>
          </a:bodyPr>
          <a:lstStyle/>
          <a:p>
            <a:r>
              <a:rPr lang="pt-BR" sz="4000" dirty="0"/>
              <a:t>PCV – Inserção mais barata</a:t>
            </a:r>
            <a:br>
              <a:rPr lang="pt-BR" sz="4000" dirty="0"/>
            </a:br>
            <a:r>
              <a:rPr lang="pt-BR" sz="4000" dirty="0"/>
              <a:t>Exemplo - Passo 0</a:t>
            </a:r>
            <a:endParaRPr lang="pt-BR" sz="3700" dirty="0"/>
          </a:p>
        </p:txBody>
      </p:sp>
      <p:sp>
        <p:nvSpPr>
          <p:cNvPr id="210947" name="Oval 3"/>
          <p:cNvSpPr>
            <a:spLocks noChangeArrowheads="1"/>
          </p:cNvSpPr>
          <p:nvPr/>
        </p:nvSpPr>
        <p:spPr bwMode="auto">
          <a:xfrm>
            <a:off x="1879600" y="35814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k</a:t>
            </a:r>
          </a:p>
        </p:txBody>
      </p:sp>
      <p:sp>
        <p:nvSpPr>
          <p:cNvPr id="210948" name="Oval 4"/>
          <p:cNvSpPr>
            <a:spLocks noChangeArrowheads="1"/>
          </p:cNvSpPr>
          <p:nvPr/>
        </p:nvSpPr>
        <p:spPr bwMode="auto">
          <a:xfrm>
            <a:off x="3276600" y="52832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t</a:t>
            </a:r>
          </a:p>
        </p:txBody>
      </p:sp>
      <p:sp>
        <p:nvSpPr>
          <p:cNvPr id="210949" name="Oval 5"/>
          <p:cNvSpPr>
            <a:spLocks noChangeArrowheads="1"/>
          </p:cNvSpPr>
          <p:nvPr/>
        </p:nvSpPr>
        <p:spPr bwMode="auto">
          <a:xfrm>
            <a:off x="4292600" y="44196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u</a:t>
            </a:r>
          </a:p>
        </p:txBody>
      </p:sp>
      <p:sp>
        <p:nvSpPr>
          <p:cNvPr id="210950" name="Oval 6"/>
          <p:cNvSpPr>
            <a:spLocks noChangeArrowheads="1"/>
          </p:cNvSpPr>
          <p:nvPr/>
        </p:nvSpPr>
        <p:spPr bwMode="auto">
          <a:xfrm>
            <a:off x="3276600" y="35814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j</a:t>
            </a:r>
          </a:p>
        </p:txBody>
      </p:sp>
      <p:sp>
        <p:nvSpPr>
          <p:cNvPr id="210951" name="Oval 7"/>
          <p:cNvSpPr>
            <a:spLocks noChangeArrowheads="1"/>
          </p:cNvSpPr>
          <p:nvPr/>
        </p:nvSpPr>
        <p:spPr bwMode="auto">
          <a:xfrm>
            <a:off x="1879600" y="52832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r</a:t>
            </a:r>
          </a:p>
        </p:txBody>
      </p:sp>
      <p:sp>
        <p:nvSpPr>
          <p:cNvPr id="210952" name="Oval 8"/>
          <p:cNvSpPr>
            <a:spLocks noChangeArrowheads="1"/>
          </p:cNvSpPr>
          <p:nvPr/>
        </p:nvSpPr>
        <p:spPr bwMode="auto">
          <a:xfrm>
            <a:off x="838200" y="44196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i</a:t>
            </a:r>
          </a:p>
        </p:txBody>
      </p:sp>
      <p:graphicFrame>
        <p:nvGraphicFramePr>
          <p:cNvPr id="210953" name="Group 9"/>
          <p:cNvGraphicFramePr>
            <a:graphicFrameLocks noGrp="1"/>
          </p:cNvGraphicFramePr>
          <p:nvPr/>
        </p:nvGraphicFramePr>
        <p:xfrm>
          <a:off x="3059113" y="1517650"/>
          <a:ext cx="2855912" cy="1920240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Cid.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8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1019" name="Text Box 75"/>
          <p:cNvSpPr txBox="1">
            <a:spLocks noChangeArrowheads="1"/>
          </p:cNvSpPr>
          <p:nvPr/>
        </p:nvSpPr>
        <p:spPr bwMode="auto">
          <a:xfrm>
            <a:off x="2012950" y="4235450"/>
            <a:ext cx="3603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600">
                <a:latin typeface="Arial" charset="0"/>
              </a:rPr>
              <a:t>d</a:t>
            </a:r>
            <a:r>
              <a:rPr lang="pt-BR" sz="1600" baseline="-25000">
                <a:latin typeface="Arial" charset="0"/>
              </a:rPr>
              <a:t>ij</a:t>
            </a:r>
          </a:p>
        </p:txBody>
      </p:sp>
      <p:sp>
        <p:nvSpPr>
          <p:cNvPr id="211020" name="Text Box 76"/>
          <p:cNvSpPr txBox="1">
            <a:spLocks noChangeArrowheads="1"/>
          </p:cNvSpPr>
          <p:nvPr/>
        </p:nvSpPr>
        <p:spPr bwMode="auto">
          <a:xfrm>
            <a:off x="2825750" y="4451350"/>
            <a:ext cx="374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600">
                <a:latin typeface="Arial" charset="0"/>
              </a:rPr>
              <a:t>d</a:t>
            </a:r>
            <a:r>
              <a:rPr lang="pt-BR" sz="1600" baseline="-25000">
                <a:latin typeface="Arial" charset="0"/>
              </a:rPr>
              <a:t>ir</a:t>
            </a:r>
          </a:p>
        </p:txBody>
      </p:sp>
      <p:sp>
        <p:nvSpPr>
          <p:cNvPr id="211021" name="Text Box 77"/>
          <p:cNvSpPr txBox="1">
            <a:spLocks noChangeArrowheads="1"/>
          </p:cNvSpPr>
          <p:nvPr/>
        </p:nvSpPr>
        <p:spPr bwMode="auto">
          <a:xfrm>
            <a:off x="1250950" y="4979988"/>
            <a:ext cx="374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600">
                <a:latin typeface="Arial" charset="0"/>
              </a:rPr>
              <a:t>d</a:t>
            </a:r>
            <a:r>
              <a:rPr lang="pt-BR" sz="1600" baseline="-25000">
                <a:latin typeface="Arial" charset="0"/>
              </a:rPr>
              <a:t>ri</a:t>
            </a:r>
          </a:p>
        </p:txBody>
      </p:sp>
      <p:sp>
        <p:nvSpPr>
          <p:cNvPr id="211022" name="Line 78"/>
          <p:cNvSpPr>
            <a:spLocks noChangeShapeType="1"/>
          </p:cNvSpPr>
          <p:nvPr/>
        </p:nvSpPr>
        <p:spPr bwMode="auto">
          <a:xfrm flipV="1">
            <a:off x="1295400" y="3886200"/>
            <a:ext cx="1981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11023" name="Line 79"/>
          <p:cNvSpPr>
            <a:spLocks noChangeShapeType="1"/>
          </p:cNvSpPr>
          <p:nvPr/>
        </p:nvSpPr>
        <p:spPr bwMode="auto">
          <a:xfrm flipH="1">
            <a:off x="2209800" y="3962400"/>
            <a:ext cx="1143000" cy="1371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11024" name="Line 80"/>
          <p:cNvSpPr>
            <a:spLocks noChangeShapeType="1"/>
          </p:cNvSpPr>
          <p:nvPr/>
        </p:nvSpPr>
        <p:spPr bwMode="auto">
          <a:xfrm>
            <a:off x="1244600" y="4737100"/>
            <a:ext cx="6858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Oval 2"/>
          <p:cNvSpPr>
            <a:spLocks noChangeArrowheads="1"/>
          </p:cNvSpPr>
          <p:nvPr/>
        </p:nvSpPr>
        <p:spPr bwMode="auto">
          <a:xfrm>
            <a:off x="1879600" y="35814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k</a:t>
            </a:r>
          </a:p>
        </p:txBody>
      </p:sp>
      <p:sp>
        <p:nvSpPr>
          <p:cNvPr id="211971" name="Oval 3"/>
          <p:cNvSpPr>
            <a:spLocks noChangeArrowheads="1"/>
          </p:cNvSpPr>
          <p:nvPr/>
        </p:nvSpPr>
        <p:spPr bwMode="auto">
          <a:xfrm>
            <a:off x="3276600" y="52832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t</a:t>
            </a:r>
          </a:p>
        </p:txBody>
      </p:sp>
      <p:sp>
        <p:nvSpPr>
          <p:cNvPr id="211972" name="Oval 4"/>
          <p:cNvSpPr>
            <a:spLocks noChangeArrowheads="1"/>
          </p:cNvSpPr>
          <p:nvPr/>
        </p:nvSpPr>
        <p:spPr bwMode="auto">
          <a:xfrm>
            <a:off x="4292600" y="44196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u</a:t>
            </a:r>
          </a:p>
        </p:txBody>
      </p:sp>
      <p:sp>
        <p:nvSpPr>
          <p:cNvPr id="211973" name="Oval 5"/>
          <p:cNvSpPr>
            <a:spLocks noChangeArrowheads="1"/>
          </p:cNvSpPr>
          <p:nvPr/>
        </p:nvSpPr>
        <p:spPr bwMode="auto">
          <a:xfrm>
            <a:off x="3276600" y="35814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j</a:t>
            </a:r>
          </a:p>
        </p:txBody>
      </p:sp>
      <p:sp>
        <p:nvSpPr>
          <p:cNvPr id="211974" name="Oval 6"/>
          <p:cNvSpPr>
            <a:spLocks noChangeArrowheads="1"/>
          </p:cNvSpPr>
          <p:nvPr/>
        </p:nvSpPr>
        <p:spPr bwMode="auto">
          <a:xfrm>
            <a:off x="1879600" y="52832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r</a:t>
            </a:r>
          </a:p>
        </p:txBody>
      </p:sp>
      <p:sp>
        <p:nvSpPr>
          <p:cNvPr id="211975" name="Oval 7"/>
          <p:cNvSpPr>
            <a:spLocks noChangeArrowheads="1"/>
          </p:cNvSpPr>
          <p:nvPr/>
        </p:nvSpPr>
        <p:spPr bwMode="auto">
          <a:xfrm>
            <a:off x="838200" y="44196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i</a:t>
            </a:r>
          </a:p>
        </p:txBody>
      </p:sp>
      <p:graphicFrame>
        <p:nvGraphicFramePr>
          <p:cNvPr id="211976" name="Group 8"/>
          <p:cNvGraphicFramePr>
            <a:graphicFrameLocks noGrp="1"/>
          </p:cNvGraphicFramePr>
          <p:nvPr/>
        </p:nvGraphicFramePr>
        <p:xfrm>
          <a:off x="3084513" y="1517650"/>
          <a:ext cx="2855912" cy="1920240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Cid.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8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2042" name="Text Box 74"/>
          <p:cNvSpPr txBox="1">
            <a:spLocks noChangeArrowheads="1"/>
          </p:cNvSpPr>
          <p:nvPr/>
        </p:nvSpPr>
        <p:spPr bwMode="auto">
          <a:xfrm>
            <a:off x="2012950" y="4235450"/>
            <a:ext cx="3603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600">
                <a:latin typeface="Arial" charset="0"/>
              </a:rPr>
              <a:t>d</a:t>
            </a:r>
            <a:r>
              <a:rPr lang="pt-BR" sz="1600" baseline="-25000">
                <a:latin typeface="Arial" charset="0"/>
              </a:rPr>
              <a:t>ij</a:t>
            </a:r>
          </a:p>
        </p:txBody>
      </p:sp>
      <p:sp>
        <p:nvSpPr>
          <p:cNvPr id="212043" name="Text Box 75"/>
          <p:cNvSpPr txBox="1">
            <a:spLocks noChangeArrowheads="1"/>
          </p:cNvSpPr>
          <p:nvPr/>
        </p:nvSpPr>
        <p:spPr bwMode="auto">
          <a:xfrm>
            <a:off x="2825750" y="4451350"/>
            <a:ext cx="374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600">
                <a:latin typeface="Arial" charset="0"/>
              </a:rPr>
              <a:t>d</a:t>
            </a:r>
            <a:r>
              <a:rPr lang="pt-BR" sz="1600" baseline="-25000">
                <a:latin typeface="Arial" charset="0"/>
              </a:rPr>
              <a:t>ir</a:t>
            </a:r>
          </a:p>
        </p:txBody>
      </p:sp>
      <p:sp>
        <p:nvSpPr>
          <p:cNvPr id="212044" name="Text Box 76"/>
          <p:cNvSpPr txBox="1">
            <a:spLocks noChangeArrowheads="1"/>
          </p:cNvSpPr>
          <p:nvPr/>
        </p:nvSpPr>
        <p:spPr bwMode="auto">
          <a:xfrm>
            <a:off x="1250950" y="4979988"/>
            <a:ext cx="374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600">
                <a:latin typeface="Arial" charset="0"/>
              </a:rPr>
              <a:t>d</a:t>
            </a:r>
            <a:r>
              <a:rPr lang="pt-BR" sz="1600" baseline="-25000">
                <a:latin typeface="Arial" charset="0"/>
              </a:rPr>
              <a:t>ri</a:t>
            </a:r>
          </a:p>
        </p:txBody>
      </p:sp>
      <p:sp>
        <p:nvSpPr>
          <p:cNvPr id="212045" name="Text Box 77"/>
          <p:cNvSpPr txBox="1">
            <a:spLocks noChangeArrowheads="1"/>
          </p:cNvSpPr>
          <p:nvPr/>
        </p:nvSpPr>
        <p:spPr bwMode="auto">
          <a:xfrm>
            <a:off x="4800600" y="3581400"/>
            <a:ext cx="3886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1900">
                <a:latin typeface="Arial" charset="0"/>
              </a:rPr>
              <a:t>Custo da inserção = d</a:t>
            </a:r>
            <a:r>
              <a:rPr lang="pt-BR" sz="1900" baseline="-25000">
                <a:latin typeface="Arial" charset="0"/>
              </a:rPr>
              <a:t>ik</a:t>
            </a:r>
            <a:r>
              <a:rPr lang="pt-BR" sz="1900">
                <a:latin typeface="Arial" charset="0"/>
              </a:rPr>
              <a:t> + d</a:t>
            </a:r>
            <a:r>
              <a:rPr lang="pt-BR" sz="1900" baseline="-25000">
                <a:latin typeface="Arial" charset="0"/>
              </a:rPr>
              <a:t>kj</a:t>
            </a:r>
            <a:r>
              <a:rPr lang="pt-BR" sz="1900">
                <a:latin typeface="Arial" charset="0"/>
              </a:rPr>
              <a:t> - d</a:t>
            </a:r>
            <a:r>
              <a:rPr lang="pt-BR" sz="1900" baseline="-25000">
                <a:latin typeface="Arial" charset="0"/>
              </a:rPr>
              <a:t>ij</a:t>
            </a:r>
          </a:p>
        </p:txBody>
      </p:sp>
      <p:sp>
        <p:nvSpPr>
          <p:cNvPr id="212046" name="Line 78"/>
          <p:cNvSpPr>
            <a:spLocks noChangeShapeType="1"/>
          </p:cNvSpPr>
          <p:nvPr/>
        </p:nvSpPr>
        <p:spPr bwMode="auto">
          <a:xfrm flipV="1">
            <a:off x="1295400" y="3886200"/>
            <a:ext cx="1981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12047" name="Line 79"/>
          <p:cNvSpPr>
            <a:spLocks noChangeShapeType="1"/>
          </p:cNvSpPr>
          <p:nvPr/>
        </p:nvSpPr>
        <p:spPr bwMode="auto">
          <a:xfrm flipH="1">
            <a:off x="2209800" y="3962400"/>
            <a:ext cx="1143000" cy="1371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12048" name="Line 80"/>
          <p:cNvSpPr>
            <a:spLocks noChangeShapeType="1"/>
          </p:cNvSpPr>
          <p:nvPr/>
        </p:nvSpPr>
        <p:spPr bwMode="auto">
          <a:xfrm>
            <a:off x="1244600" y="4737100"/>
            <a:ext cx="6858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12049" name="Line 81"/>
          <p:cNvSpPr>
            <a:spLocks noChangeShapeType="1"/>
          </p:cNvSpPr>
          <p:nvPr/>
        </p:nvSpPr>
        <p:spPr bwMode="auto">
          <a:xfrm flipV="1">
            <a:off x="1219200" y="396240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12050" name="Line 82"/>
          <p:cNvSpPr>
            <a:spLocks noChangeShapeType="1"/>
          </p:cNvSpPr>
          <p:nvPr/>
        </p:nvSpPr>
        <p:spPr bwMode="auto">
          <a:xfrm>
            <a:off x="2286000" y="3733800"/>
            <a:ext cx="990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12051" name="Text Box 83"/>
          <p:cNvSpPr txBox="1">
            <a:spLocks noChangeArrowheads="1"/>
          </p:cNvSpPr>
          <p:nvPr/>
        </p:nvSpPr>
        <p:spPr bwMode="auto">
          <a:xfrm>
            <a:off x="1276350" y="3930650"/>
            <a:ext cx="3984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600">
                <a:latin typeface="Arial" charset="0"/>
              </a:rPr>
              <a:t>d</a:t>
            </a:r>
            <a:r>
              <a:rPr lang="pt-BR" sz="1600" baseline="-25000">
                <a:latin typeface="Arial" charset="0"/>
              </a:rPr>
              <a:t>ik</a:t>
            </a:r>
          </a:p>
        </p:txBody>
      </p:sp>
      <p:sp>
        <p:nvSpPr>
          <p:cNvPr id="212052" name="Text Box 84"/>
          <p:cNvSpPr txBox="1">
            <a:spLocks noChangeArrowheads="1"/>
          </p:cNvSpPr>
          <p:nvPr/>
        </p:nvSpPr>
        <p:spPr bwMode="auto">
          <a:xfrm>
            <a:off x="2522538" y="3390900"/>
            <a:ext cx="3984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600">
                <a:latin typeface="Arial" charset="0"/>
              </a:rPr>
              <a:t>d</a:t>
            </a:r>
            <a:r>
              <a:rPr lang="pt-BR" sz="1600" baseline="-25000">
                <a:latin typeface="Arial" charset="0"/>
              </a:rPr>
              <a:t>kj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3201"/>
            <a:ext cx="7991475" cy="1138238"/>
          </a:xfrm>
        </p:spPr>
        <p:txBody>
          <a:bodyPr>
            <a:normAutofit fontScale="90000"/>
          </a:bodyPr>
          <a:lstStyle/>
          <a:p>
            <a:r>
              <a:rPr lang="pt-BR" sz="4000" dirty="0"/>
              <a:t>PCV – Inserção mais barata</a:t>
            </a:r>
            <a:br>
              <a:rPr lang="pt-BR" sz="4000" dirty="0"/>
            </a:br>
            <a:r>
              <a:rPr lang="pt-BR" sz="4000" dirty="0"/>
              <a:t>Exemplo - Passo 1</a:t>
            </a:r>
            <a:endParaRPr lang="pt-BR" sz="3700" dirty="0"/>
          </a:p>
        </p:txBody>
      </p:sp>
    </p:spTree>
    <p:extLst>
      <p:ext uri="{BB962C8B-B14F-4D97-AF65-F5344CB8AC3E}">
        <p14:creationId xmlns:p14="http://schemas.microsoft.com/office/powerpoint/2010/main" val="273055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1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2120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2120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042" grpId="0"/>
      <p:bldP spid="212045" grpId="0"/>
      <p:bldP spid="212046" grpId="0" animBg="1"/>
      <p:bldP spid="212049" grpId="0" animBg="1"/>
      <p:bldP spid="212050" grpId="0" animBg="1"/>
      <p:bldP spid="212051" grpId="0"/>
      <p:bldP spid="21205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5" name="Oval 3"/>
          <p:cNvSpPr>
            <a:spLocks noChangeArrowheads="1"/>
          </p:cNvSpPr>
          <p:nvPr/>
        </p:nvSpPr>
        <p:spPr bwMode="auto">
          <a:xfrm>
            <a:off x="1879600" y="35814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1</a:t>
            </a:r>
          </a:p>
        </p:txBody>
      </p:sp>
      <p:sp>
        <p:nvSpPr>
          <p:cNvPr id="212996" name="Oval 4"/>
          <p:cNvSpPr>
            <a:spLocks noChangeArrowheads="1"/>
          </p:cNvSpPr>
          <p:nvPr/>
        </p:nvSpPr>
        <p:spPr bwMode="auto">
          <a:xfrm>
            <a:off x="3276600" y="52832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4</a:t>
            </a:r>
          </a:p>
        </p:txBody>
      </p:sp>
      <p:sp>
        <p:nvSpPr>
          <p:cNvPr id="212997" name="Oval 5"/>
          <p:cNvSpPr>
            <a:spLocks noChangeArrowheads="1"/>
          </p:cNvSpPr>
          <p:nvPr/>
        </p:nvSpPr>
        <p:spPr bwMode="auto">
          <a:xfrm>
            <a:off x="4292600" y="44196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3</a:t>
            </a:r>
          </a:p>
        </p:txBody>
      </p:sp>
      <p:sp>
        <p:nvSpPr>
          <p:cNvPr id="212998" name="Oval 6"/>
          <p:cNvSpPr>
            <a:spLocks noChangeArrowheads="1"/>
          </p:cNvSpPr>
          <p:nvPr/>
        </p:nvSpPr>
        <p:spPr bwMode="auto">
          <a:xfrm>
            <a:off x="3276600" y="35814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2</a:t>
            </a:r>
          </a:p>
        </p:txBody>
      </p:sp>
      <p:sp>
        <p:nvSpPr>
          <p:cNvPr id="212999" name="Oval 7"/>
          <p:cNvSpPr>
            <a:spLocks noChangeArrowheads="1"/>
          </p:cNvSpPr>
          <p:nvPr/>
        </p:nvSpPr>
        <p:spPr bwMode="auto">
          <a:xfrm>
            <a:off x="1879600" y="52832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5</a:t>
            </a:r>
          </a:p>
        </p:txBody>
      </p:sp>
      <p:sp>
        <p:nvSpPr>
          <p:cNvPr id="213000" name="Oval 8"/>
          <p:cNvSpPr>
            <a:spLocks noChangeArrowheads="1"/>
          </p:cNvSpPr>
          <p:nvPr/>
        </p:nvSpPr>
        <p:spPr bwMode="auto">
          <a:xfrm>
            <a:off x="838200" y="44196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6</a:t>
            </a:r>
          </a:p>
        </p:txBody>
      </p:sp>
      <p:graphicFrame>
        <p:nvGraphicFramePr>
          <p:cNvPr id="213001" name="Group 9"/>
          <p:cNvGraphicFramePr>
            <a:graphicFrameLocks noGrp="1"/>
          </p:cNvGraphicFramePr>
          <p:nvPr/>
        </p:nvGraphicFramePr>
        <p:xfrm>
          <a:off x="3059113" y="1557338"/>
          <a:ext cx="2855912" cy="1920240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Cid.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8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3067" name="Rectangle 75"/>
          <p:cNvSpPr>
            <a:spLocks noGrp="1" noChangeArrowheads="1"/>
          </p:cNvSpPr>
          <p:nvPr>
            <p:ph type="body" idx="1"/>
          </p:nvPr>
        </p:nvSpPr>
        <p:spPr>
          <a:xfrm>
            <a:off x="5205413" y="5165725"/>
            <a:ext cx="1925637" cy="387350"/>
          </a:xfrm>
          <a:noFill/>
          <a:ln/>
        </p:spPr>
        <p:txBody>
          <a:bodyPr/>
          <a:lstStyle/>
          <a:p>
            <a:pPr marL="177800" indent="-177800"/>
            <a:r>
              <a:rPr lang="pt-BR" sz="1300" b="1"/>
              <a:t>Distância Total</a:t>
            </a:r>
            <a:r>
              <a:rPr lang="pt-BR" sz="1300"/>
              <a:t> </a:t>
            </a:r>
            <a:r>
              <a:rPr lang="pt-BR" sz="1300" b="1"/>
              <a:t>=</a:t>
            </a:r>
          </a:p>
        </p:txBody>
      </p:sp>
      <p:sp>
        <p:nvSpPr>
          <p:cNvPr id="213068" name="Text Box 76"/>
          <p:cNvSpPr txBox="1">
            <a:spLocks noChangeArrowheads="1"/>
          </p:cNvSpPr>
          <p:nvPr/>
        </p:nvSpPr>
        <p:spPr bwMode="auto">
          <a:xfrm>
            <a:off x="6867525" y="5157788"/>
            <a:ext cx="3683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300">
                <a:latin typeface="Arial" charset="0"/>
              </a:rPr>
              <a:t>11</a:t>
            </a:r>
          </a:p>
        </p:txBody>
      </p:sp>
      <p:cxnSp>
        <p:nvCxnSpPr>
          <p:cNvPr id="213069" name="AutoShape 77"/>
          <p:cNvCxnSpPr>
            <a:cxnSpLocks noChangeShapeType="1"/>
            <a:stCxn id="213000" idx="6"/>
            <a:endCxn id="212998" idx="2"/>
          </p:cNvCxnSpPr>
          <p:nvPr/>
        </p:nvCxnSpPr>
        <p:spPr bwMode="auto">
          <a:xfrm flipV="1">
            <a:off x="1270000" y="3797300"/>
            <a:ext cx="2006600" cy="838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13070" name="AutoShape 78"/>
          <p:cNvCxnSpPr>
            <a:cxnSpLocks noChangeShapeType="1"/>
            <a:stCxn id="212998" idx="3"/>
            <a:endCxn id="212999" idx="7"/>
          </p:cNvCxnSpPr>
          <p:nvPr/>
        </p:nvCxnSpPr>
        <p:spPr bwMode="auto">
          <a:xfrm flipH="1">
            <a:off x="2247900" y="3949700"/>
            <a:ext cx="1092200" cy="13970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13071" name="AutoShape 79"/>
          <p:cNvCxnSpPr>
            <a:cxnSpLocks noChangeShapeType="1"/>
            <a:stCxn id="212999" idx="1"/>
            <a:endCxn id="213000" idx="5"/>
          </p:cNvCxnSpPr>
          <p:nvPr/>
        </p:nvCxnSpPr>
        <p:spPr bwMode="auto">
          <a:xfrm flipH="1" flipV="1">
            <a:off x="1206500" y="4787900"/>
            <a:ext cx="736600" cy="558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13072" name="Text Box 80"/>
          <p:cNvSpPr txBox="1">
            <a:spLocks noChangeArrowheads="1"/>
          </p:cNvSpPr>
          <p:nvPr/>
        </p:nvSpPr>
        <p:spPr bwMode="auto">
          <a:xfrm>
            <a:off x="2055813" y="4229100"/>
            <a:ext cx="2682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2</a:t>
            </a:r>
          </a:p>
        </p:txBody>
      </p:sp>
      <p:sp>
        <p:nvSpPr>
          <p:cNvPr id="213073" name="Text Box 81"/>
          <p:cNvSpPr txBox="1">
            <a:spLocks noChangeArrowheads="1"/>
          </p:cNvSpPr>
          <p:nvPr/>
        </p:nvSpPr>
        <p:spPr bwMode="auto">
          <a:xfrm>
            <a:off x="2819400" y="4500563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7</a:t>
            </a:r>
          </a:p>
        </p:txBody>
      </p:sp>
      <p:sp>
        <p:nvSpPr>
          <p:cNvPr id="213074" name="Text Box 82"/>
          <p:cNvSpPr txBox="1">
            <a:spLocks noChangeArrowheads="1"/>
          </p:cNvSpPr>
          <p:nvPr/>
        </p:nvSpPr>
        <p:spPr bwMode="auto">
          <a:xfrm>
            <a:off x="1371600" y="50038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2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3201"/>
            <a:ext cx="7991475" cy="1138238"/>
          </a:xfrm>
        </p:spPr>
        <p:txBody>
          <a:bodyPr>
            <a:normAutofit fontScale="90000"/>
          </a:bodyPr>
          <a:lstStyle/>
          <a:p>
            <a:r>
              <a:rPr lang="pt-BR" sz="4000" dirty="0"/>
              <a:t>PCV – Inserção mais barata</a:t>
            </a:r>
            <a:br>
              <a:rPr lang="pt-BR" sz="4000" dirty="0"/>
            </a:br>
            <a:r>
              <a:rPr lang="pt-BR" sz="4000" dirty="0"/>
              <a:t>Exemplo - Passo 1</a:t>
            </a:r>
            <a:endParaRPr lang="pt-BR" sz="3700" dirty="0"/>
          </a:p>
        </p:txBody>
      </p:sp>
    </p:spTree>
    <p:extLst>
      <p:ext uri="{BB962C8B-B14F-4D97-AF65-F5344CB8AC3E}">
        <p14:creationId xmlns:p14="http://schemas.microsoft.com/office/powerpoint/2010/main" val="783685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1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1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21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21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21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1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3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3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3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3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067" grpId="0" build="p" autoUpdateAnimBg="0"/>
      <p:bldP spid="213068" grpId="0" autoUpdateAnimBg="0"/>
      <p:bldP spid="213072" grpId="0"/>
      <p:bldP spid="213073" grpId="0"/>
      <p:bldP spid="21307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9" name="Oval 3"/>
          <p:cNvSpPr>
            <a:spLocks noChangeArrowheads="1"/>
          </p:cNvSpPr>
          <p:nvPr/>
        </p:nvSpPr>
        <p:spPr bwMode="auto">
          <a:xfrm>
            <a:off x="1879600" y="35814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1</a:t>
            </a:r>
          </a:p>
        </p:txBody>
      </p:sp>
      <p:sp>
        <p:nvSpPr>
          <p:cNvPr id="214020" name="Oval 4"/>
          <p:cNvSpPr>
            <a:spLocks noChangeArrowheads="1"/>
          </p:cNvSpPr>
          <p:nvPr/>
        </p:nvSpPr>
        <p:spPr bwMode="auto">
          <a:xfrm>
            <a:off x="3276600" y="52832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4</a:t>
            </a:r>
          </a:p>
        </p:txBody>
      </p:sp>
      <p:graphicFrame>
        <p:nvGraphicFramePr>
          <p:cNvPr id="214021" name="Group 5"/>
          <p:cNvGraphicFramePr>
            <a:graphicFrameLocks noGrp="1"/>
          </p:cNvGraphicFramePr>
          <p:nvPr/>
        </p:nvGraphicFramePr>
        <p:xfrm>
          <a:off x="5508625" y="1557338"/>
          <a:ext cx="2354263" cy="2789945"/>
        </p:xfrm>
        <a:graphic>
          <a:graphicData uri="http://schemas.openxmlformats.org/drawingml/2006/table">
            <a:tbl>
              <a:tblPr/>
              <a:tblGrid>
                <a:gridCol w="373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k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j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d</a:t>
                      </a:r>
                      <a:r>
                        <a:rPr kumimoji="0" lang="pt-BR" sz="12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ik</a:t>
                      </a:r>
                      <a:r>
                        <a:rPr kumimoji="0" lang="pt-BR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 </a:t>
                      </a: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+</a:t>
                      </a:r>
                      <a:r>
                        <a:rPr kumimoji="0" lang="pt-BR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 d</a:t>
                      </a:r>
                      <a:r>
                        <a:rPr kumimoji="0" lang="pt-BR" sz="12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kj</a:t>
                      </a:r>
                      <a:r>
                        <a:rPr kumimoji="0" lang="pt-BR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 </a:t>
                      </a: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–</a:t>
                      </a:r>
                      <a:r>
                        <a:rPr kumimoji="0" lang="pt-BR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 d</a:t>
                      </a:r>
                      <a:r>
                        <a:rPr kumimoji="0" lang="pt-BR" sz="12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ij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 + 2 – 2 = 1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 + 5 – 2 = 9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 + 9 – 2 = 3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 + 9 – 7 = 4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5 + 8 – 7 = 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 + 2 – 7 = 4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 + 1 – 2 = 8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8 + 6 – 2 = 12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 + 6 – 2 = 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14080" name="Oval 64"/>
          <p:cNvSpPr>
            <a:spLocks noChangeArrowheads="1"/>
          </p:cNvSpPr>
          <p:nvPr/>
        </p:nvSpPr>
        <p:spPr bwMode="auto">
          <a:xfrm>
            <a:off x="4292600" y="44196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3</a:t>
            </a:r>
          </a:p>
        </p:txBody>
      </p:sp>
      <p:sp>
        <p:nvSpPr>
          <p:cNvPr id="214081" name="Oval 65"/>
          <p:cNvSpPr>
            <a:spLocks noChangeArrowheads="1"/>
          </p:cNvSpPr>
          <p:nvPr/>
        </p:nvSpPr>
        <p:spPr bwMode="auto">
          <a:xfrm>
            <a:off x="3276600" y="35814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2</a:t>
            </a:r>
          </a:p>
        </p:txBody>
      </p:sp>
      <p:sp>
        <p:nvSpPr>
          <p:cNvPr id="214082" name="Oval 66"/>
          <p:cNvSpPr>
            <a:spLocks noChangeArrowheads="1"/>
          </p:cNvSpPr>
          <p:nvPr/>
        </p:nvSpPr>
        <p:spPr bwMode="auto">
          <a:xfrm>
            <a:off x="1879600" y="52832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5</a:t>
            </a:r>
          </a:p>
        </p:txBody>
      </p:sp>
      <p:sp>
        <p:nvSpPr>
          <p:cNvPr id="214083" name="Oval 67"/>
          <p:cNvSpPr>
            <a:spLocks noChangeArrowheads="1"/>
          </p:cNvSpPr>
          <p:nvPr/>
        </p:nvSpPr>
        <p:spPr bwMode="auto">
          <a:xfrm>
            <a:off x="838200" y="44196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6</a:t>
            </a:r>
          </a:p>
        </p:txBody>
      </p:sp>
      <p:graphicFrame>
        <p:nvGraphicFramePr>
          <p:cNvPr id="214084" name="Group 68"/>
          <p:cNvGraphicFramePr>
            <a:graphicFrameLocks noGrp="1"/>
          </p:cNvGraphicFramePr>
          <p:nvPr/>
        </p:nvGraphicFramePr>
        <p:xfrm>
          <a:off x="611188" y="1517650"/>
          <a:ext cx="2855912" cy="1920240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Cid.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8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4150" name="Oval 134"/>
          <p:cNvSpPr>
            <a:spLocks noChangeArrowheads="1"/>
          </p:cNvSpPr>
          <p:nvPr/>
        </p:nvSpPr>
        <p:spPr bwMode="auto">
          <a:xfrm>
            <a:off x="5403850" y="1844675"/>
            <a:ext cx="2552700" cy="228600"/>
          </a:xfrm>
          <a:prstGeom prst="ellips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4151" name="Rectangle 135"/>
          <p:cNvSpPr>
            <a:spLocks noGrp="1" noChangeArrowheads="1"/>
          </p:cNvSpPr>
          <p:nvPr>
            <p:ph type="body" idx="1"/>
          </p:nvPr>
        </p:nvSpPr>
        <p:spPr>
          <a:xfrm>
            <a:off x="5205413" y="5165725"/>
            <a:ext cx="1925637" cy="387350"/>
          </a:xfrm>
          <a:noFill/>
          <a:ln/>
        </p:spPr>
        <p:txBody>
          <a:bodyPr/>
          <a:lstStyle/>
          <a:p>
            <a:pPr marL="177800" indent="-177800"/>
            <a:r>
              <a:rPr lang="pt-BR" sz="1300" b="1"/>
              <a:t>Distância Total</a:t>
            </a:r>
            <a:r>
              <a:rPr lang="pt-BR" sz="1300"/>
              <a:t> </a:t>
            </a:r>
            <a:r>
              <a:rPr lang="pt-BR" sz="1300" b="1"/>
              <a:t>=</a:t>
            </a:r>
          </a:p>
        </p:txBody>
      </p:sp>
      <p:sp>
        <p:nvSpPr>
          <p:cNvPr id="214152" name="Text Box 136"/>
          <p:cNvSpPr txBox="1">
            <a:spLocks noChangeArrowheads="1"/>
          </p:cNvSpPr>
          <p:nvPr/>
        </p:nvSpPr>
        <p:spPr bwMode="auto">
          <a:xfrm>
            <a:off x="6877050" y="5157788"/>
            <a:ext cx="102235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300">
                <a:latin typeface="Arial" charset="0"/>
              </a:rPr>
              <a:t>11 + 1 = 12</a:t>
            </a:r>
          </a:p>
        </p:txBody>
      </p:sp>
      <p:cxnSp>
        <p:nvCxnSpPr>
          <p:cNvPr id="214153" name="AutoShape 137"/>
          <p:cNvCxnSpPr>
            <a:cxnSpLocks noChangeShapeType="1"/>
            <a:stCxn id="214083" idx="6"/>
            <a:endCxn id="214081" idx="2"/>
          </p:cNvCxnSpPr>
          <p:nvPr/>
        </p:nvCxnSpPr>
        <p:spPr bwMode="auto">
          <a:xfrm flipV="1">
            <a:off x="1270000" y="3797300"/>
            <a:ext cx="2006600" cy="838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14154" name="AutoShape 138"/>
          <p:cNvCxnSpPr>
            <a:cxnSpLocks noChangeShapeType="1"/>
            <a:stCxn id="214081" idx="3"/>
            <a:endCxn id="214082" idx="7"/>
          </p:cNvCxnSpPr>
          <p:nvPr/>
        </p:nvCxnSpPr>
        <p:spPr bwMode="auto">
          <a:xfrm flipH="1">
            <a:off x="2247900" y="3949700"/>
            <a:ext cx="1092200" cy="13970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14155" name="AutoShape 139"/>
          <p:cNvCxnSpPr>
            <a:cxnSpLocks noChangeShapeType="1"/>
            <a:stCxn id="214082" idx="1"/>
            <a:endCxn id="214083" idx="5"/>
          </p:cNvCxnSpPr>
          <p:nvPr/>
        </p:nvCxnSpPr>
        <p:spPr bwMode="auto">
          <a:xfrm flipH="1" flipV="1">
            <a:off x="1206500" y="4787900"/>
            <a:ext cx="736600" cy="558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14156" name="Text Box 140"/>
          <p:cNvSpPr txBox="1">
            <a:spLocks noChangeArrowheads="1"/>
          </p:cNvSpPr>
          <p:nvPr/>
        </p:nvSpPr>
        <p:spPr bwMode="auto">
          <a:xfrm>
            <a:off x="2055813" y="4229100"/>
            <a:ext cx="2682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2</a:t>
            </a:r>
          </a:p>
        </p:txBody>
      </p:sp>
      <p:sp>
        <p:nvSpPr>
          <p:cNvPr id="214157" name="Text Box 141"/>
          <p:cNvSpPr txBox="1">
            <a:spLocks noChangeArrowheads="1"/>
          </p:cNvSpPr>
          <p:nvPr/>
        </p:nvSpPr>
        <p:spPr bwMode="auto">
          <a:xfrm>
            <a:off x="2819400" y="4500563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7</a:t>
            </a:r>
          </a:p>
        </p:txBody>
      </p:sp>
      <p:sp>
        <p:nvSpPr>
          <p:cNvPr id="214158" name="Text Box 142"/>
          <p:cNvSpPr txBox="1">
            <a:spLocks noChangeArrowheads="1"/>
          </p:cNvSpPr>
          <p:nvPr/>
        </p:nvSpPr>
        <p:spPr bwMode="auto">
          <a:xfrm>
            <a:off x="1371600" y="50038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2</a:t>
            </a:r>
          </a:p>
        </p:txBody>
      </p:sp>
      <p:cxnSp>
        <p:nvCxnSpPr>
          <p:cNvPr id="214159" name="AutoShape 143"/>
          <p:cNvCxnSpPr>
            <a:cxnSpLocks noChangeShapeType="1"/>
            <a:stCxn id="214083" idx="7"/>
            <a:endCxn id="214019" idx="3"/>
          </p:cNvCxnSpPr>
          <p:nvPr/>
        </p:nvCxnSpPr>
        <p:spPr bwMode="auto">
          <a:xfrm flipV="1">
            <a:off x="1206500" y="3949700"/>
            <a:ext cx="73660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14160" name="Text Box 144"/>
          <p:cNvSpPr txBox="1">
            <a:spLocks noChangeArrowheads="1"/>
          </p:cNvSpPr>
          <p:nvPr/>
        </p:nvSpPr>
        <p:spPr bwMode="auto">
          <a:xfrm>
            <a:off x="1371600" y="4017963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1</a:t>
            </a:r>
          </a:p>
        </p:txBody>
      </p:sp>
      <p:cxnSp>
        <p:nvCxnSpPr>
          <p:cNvPr id="214161" name="AutoShape 145"/>
          <p:cNvCxnSpPr>
            <a:cxnSpLocks noChangeShapeType="1"/>
            <a:stCxn id="214019" idx="6"/>
            <a:endCxn id="214081" idx="2"/>
          </p:cNvCxnSpPr>
          <p:nvPr/>
        </p:nvCxnSpPr>
        <p:spPr bwMode="auto">
          <a:xfrm>
            <a:off x="2311400" y="3797300"/>
            <a:ext cx="965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14162" name="Text Box 146"/>
          <p:cNvSpPr txBox="1">
            <a:spLocks noChangeArrowheads="1"/>
          </p:cNvSpPr>
          <p:nvPr/>
        </p:nvSpPr>
        <p:spPr bwMode="auto">
          <a:xfrm>
            <a:off x="2627313" y="3581400"/>
            <a:ext cx="2682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2</a:t>
            </a:r>
          </a:p>
        </p:txBody>
      </p:sp>
      <p:sp>
        <p:nvSpPr>
          <p:cNvPr id="25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3201"/>
            <a:ext cx="7991475" cy="1138238"/>
          </a:xfrm>
        </p:spPr>
        <p:txBody>
          <a:bodyPr>
            <a:normAutofit fontScale="90000"/>
          </a:bodyPr>
          <a:lstStyle/>
          <a:p>
            <a:r>
              <a:rPr lang="pt-BR" sz="4000" dirty="0"/>
              <a:t>PCV – Inserção mais barata</a:t>
            </a:r>
            <a:br>
              <a:rPr lang="pt-BR" sz="4000" dirty="0"/>
            </a:br>
            <a:r>
              <a:rPr lang="pt-BR" sz="4000" dirty="0"/>
              <a:t>Exemplo - Passo 2</a:t>
            </a:r>
            <a:endParaRPr lang="pt-BR" sz="3700" dirty="0"/>
          </a:p>
        </p:txBody>
      </p:sp>
    </p:spTree>
    <p:extLst>
      <p:ext uri="{BB962C8B-B14F-4D97-AF65-F5344CB8AC3E}">
        <p14:creationId xmlns:p14="http://schemas.microsoft.com/office/powerpoint/2010/main" val="148835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14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14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214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214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3" dur="2000"/>
                                        <p:tgtEl>
                                          <p:spTgt spid="214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6" dur="2000"/>
                                        <p:tgtEl>
                                          <p:spTgt spid="214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2000" fill="hold"/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3B3B1"/>
                                      </p:to>
                                    </p:animClr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000" fill="hold"/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4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4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4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4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150" grpId="0" animBg="1"/>
      <p:bldP spid="214151" grpId="0" build="p"/>
      <p:bldP spid="214152" grpId="0"/>
      <p:bldP spid="214156" grpId="0"/>
      <p:bldP spid="214160" grpId="0"/>
      <p:bldP spid="21416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3" name="Oval 3"/>
          <p:cNvSpPr>
            <a:spLocks noChangeArrowheads="1"/>
          </p:cNvSpPr>
          <p:nvPr/>
        </p:nvSpPr>
        <p:spPr bwMode="auto">
          <a:xfrm>
            <a:off x="1879600" y="35814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1</a:t>
            </a:r>
          </a:p>
        </p:txBody>
      </p:sp>
      <p:sp>
        <p:nvSpPr>
          <p:cNvPr id="215044" name="Oval 4"/>
          <p:cNvSpPr>
            <a:spLocks noChangeArrowheads="1"/>
          </p:cNvSpPr>
          <p:nvPr/>
        </p:nvSpPr>
        <p:spPr bwMode="auto">
          <a:xfrm>
            <a:off x="3276600" y="52832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4</a:t>
            </a:r>
          </a:p>
        </p:txBody>
      </p:sp>
      <p:graphicFrame>
        <p:nvGraphicFramePr>
          <p:cNvPr id="215185" name="Group 145"/>
          <p:cNvGraphicFramePr>
            <a:graphicFrameLocks noGrp="1"/>
          </p:cNvGraphicFramePr>
          <p:nvPr/>
        </p:nvGraphicFramePr>
        <p:xfrm>
          <a:off x="5508625" y="1557338"/>
          <a:ext cx="2354263" cy="2513465"/>
        </p:xfrm>
        <a:graphic>
          <a:graphicData uri="http://schemas.openxmlformats.org/drawingml/2006/table">
            <a:tbl>
              <a:tblPr/>
              <a:tblGrid>
                <a:gridCol w="373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k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j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d</a:t>
                      </a:r>
                      <a:r>
                        <a:rPr kumimoji="0" lang="pt-BR" sz="12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ik</a:t>
                      </a:r>
                      <a:r>
                        <a:rPr kumimoji="0" lang="pt-BR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 </a:t>
                      </a: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+</a:t>
                      </a:r>
                      <a:r>
                        <a:rPr kumimoji="0" lang="pt-BR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 d</a:t>
                      </a:r>
                      <a:r>
                        <a:rPr kumimoji="0" lang="pt-BR" sz="12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kj</a:t>
                      </a:r>
                      <a:r>
                        <a:rPr kumimoji="0" lang="pt-BR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 </a:t>
                      </a: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–</a:t>
                      </a:r>
                      <a:r>
                        <a:rPr kumimoji="0" lang="pt-BR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 d</a:t>
                      </a:r>
                      <a:r>
                        <a:rPr kumimoji="0" lang="pt-BR" sz="12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ij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 + 1 – 1 = 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 + 4 – 1 = 9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 + 5 – 2 = 4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 + 9 – 2 = 11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5 + 8 – 7 = 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 + 2 – 7 = 4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8 + 6 – 2 = 12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 + 6 – 2 = 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5099" name="Oval 59"/>
          <p:cNvSpPr>
            <a:spLocks noChangeArrowheads="1"/>
          </p:cNvSpPr>
          <p:nvPr/>
        </p:nvSpPr>
        <p:spPr bwMode="auto">
          <a:xfrm>
            <a:off x="4292600" y="44196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3</a:t>
            </a:r>
          </a:p>
        </p:txBody>
      </p:sp>
      <p:sp>
        <p:nvSpPr>
          <p:cNvPr id="215100" name="Oval 60"/>
          <p:cNvSpPr>
            <a:spLocks noChangeArrowheads="1"/>
          </p:cNvSpPr>
          <p:nvPr/>
        </p:nvSpPr>
        <p:spPr bwMode="auto">
          <a:xfrm>
            <a:off x="3276600" y="35814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2</a:t>
            </a:r>
          </a:p>
        </p:txBody>
      </p:sp>
      <p:sp>
        <p:nvSpPr>
          <p:cNvPr id="215101" name="Oval 61"/>
          <p:cNvSpPr>
            <a:spLocks noChangeArrowheads="1"/>
          </p:cNvSpPr>
          <p:nvPr/>
        </p:nvSpPr>
        <p:spPr bwMode="auto">
          <a:xfrm>
            <a:off x="1879600" y="52832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5</a:t>
            </a:r>
          </a:p>
        </p:txBody>
      </p:sp>
      <p:sp>
        <p:nvSpPr>
          <p:cNvPr id="215102" name="Oval 62"/>
          <p:cNvSpPr>
            <a:spLocks noChangeArrowheads="1"/>
          </p:cNvSpPr>
          <p:nvPr/>
        </p:nvSpPr>
        <p:spPr bwMode="auto">
          <a:xfrm>
            <a:off x="838200" y="44196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6</a:t>
            </a:r>
          </a:p>
        </p:txBody>
      </p:sp>
      <p:graphicFrame>
        <p:nvGraphicFramePr>
          <p:cNvPr id="215103" name="Group 63"/>
          <p:cNvGraphicFramePr>
            <a:graphicFrameLocks noGrp="1"/>
          </p:cNvGraphicFramePr>
          <p:nvPr/>
        </p:nvGraphicFramePr>
        <p:xfrm>
          <a:off x="611188" y="1517650"/>
          <a:ext cx="2855912" cy="1920240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Cid.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8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5169" name="Rectangle 129"/>
          <p:cNvSpPr>
            <a:spLocks noGrp="1" noChangeArrowheads="1"/>
          </p:cNvSpPr>
          <p:nvPr>
            <p:ph type="body" idx="1"/>
          </p:nvPr>
        </p:nvSpPr>
        <p:spPr>
          <a:xfrm>
            <a:off x="5205413" y="5165725"/>
            <a:ext cx="1925637" cy="387350"/>
          </a:xfrm>
          <a:noFill/>
          <a:ln/>
        </p:spPr>
        <p:txBody>
          <a:bodyPr/>
          <a:lstStyle/>
          <a:p>
            <a:pPr marL="177800" indent="-177800"/>
            <a:r>
              <a:rPr lang="pt-BR" sz="1300" b="1"/>
              <a:t>Distância Total</a:t>
            </a:r>
            <a:r>
              <a:rPr lang="pt-BR" sz="1300"/>
              <a:t> </a:t>
            </a:r>
            <a:r>
              <a:rPr lang="pt-BR" sz="1300" b="1"/>
              <a:t>=</a:t>
            </a:r>
          </a:p>
        </p:txBody>
      </p:sp>
      <p:sp>
        <p:nvSpPr>
          <p:cNvPr id="215170" name="Text Box 130"/>
          <p:cNvSpPr txBox="1">
            <a:spLocks noChangeArrowheads="1"/>
          </p:cNvSpPr>
          <p:nvPr/>
        </p:nvSpPr>
        <p:spPr bwMode="auto">
          <a:xfrm>
            <a:off x="6862763" y="5157788"/>
            <a:ext cx="102235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300">
                <a:latin typeface="Arial" charset="0"/>
              </a:rPr>
              <a:t>12 + 4 = 16</a:t>
            </a:r>
          </a:p>
        </p:txBody>
      </p:sp>
      <p:cxnSp>
        <p:nvCxnSpPr>
          <p:cNvPr id="215171" name="AutoShape 131"/>
          <p:cNvCxnSpPr>
            <a:cxnSpLocks noChangeShapeType="1"/>
            <a:stCxn id="215100" idx="3"/>
            <a:endCxn id="215101" idx="7"/>
          </p:cNvCxnSpPr>
          <p:nvPr/>
        </p:nvCxnSpPr>
        <p:spPr bwMode="auto">
          <a:xfrm flipH="1">
            <a:off x="2247900" y="3949700"/>
            <a:ext cx="1092200" cy="13970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15172" name="AutoShape 132"/>
          <p:cNvCxnSpPr>
            <a:cxnSpLocks noChangeShapeType="1"/>
            <a:stCxn id="215101" idx="1"/>
            <a:endCxn id="215102" idx="5"/>
          </p:cNvCxnSpPr>
          <p:nvPr/>
        </p:nvCxnSpPr>
        <p:spPr bwMode="auto">
          <a:xfrm flipH="1" flipV="1">
            <a:off x="1206500" y="4787900"/>
            <a:ext cx="736600" cy="558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15173" name="Text Box 133"/>
          <p:cNvSpPr txBox="1">
            <a:spLocks noChangeArrowheads="1"/>
          </p:cNvSpPr>
          <p:nvPr/>
        </p:nvSpPr>
        <p:spPr bwMode="auto">
          <a:xfrm>
            <a:off x="2819400" y="4500563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7</a:t>
            </a:r>
          </a:p>
        </p:txBody>
      </p:sp>
      <p:sp>
        <p:nvSpPr>
          <p:cNvPr id="215174" name="Text Box 134"/>
          <p:cNvSpPr txBox="1">
            <a:spLocks noChangeArrowheads="1"/>
          </p:cNvSpPr>
          <p:nvPr/>
        </p:nvSpPr>
        <p:spPr bwMode="auto">
          <a:xfrm>
            <a:off x="1371600" y="50038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2</a:t>
            </a:r>
          </a:p>
        </p:txBody>
      </p:sp>
      <p:cxnSp>
        <p:nvCxnSpPr>
          <p:cNvPr id="215175" name="AutoShape 135"/>
          <p:cNvCxnSpPr>
            <a:cxnSpLocks noChangeShapeType="1"/>
            <a:stCxn id="215102" idx="7"/>
            <a:endCxn id="215043" idx="3"/>
          </p:cNvCxnSpPr>
          <p:nvPr/>
        </p:nvCxnSpPr>
        <p:spPr bwMode="auto">
          <a:xfrm flipV="1">
            <a:off x="1206500" y="3949700"/>
            <a:ext cx="73660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15176" name="Text Box 136"/>
          <p:cNvSpPr txBox="1">
            <a:spLocks noChangeArrowheads="1"/>
          </p:cNvSpPr>
          <p:nvPr/>
        </p:nvSpPr>
        <p:spPr bwMode="auto">
          <a:xfrm>
            <a:off x="1371600" y="4017963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1</a:t>
            </a:r>
          </a:p>
        </p:txBody>
      </p:sp>
      <p:cxnSp>
        <p:nvCxnSpPr>
          <p:cNvPr id="215177" name="AutoShape 137"/>
          <p:cNvCxnSpPr>
            <a:cxnSpLocks noChangeShapeType="1"/>
            <a:stCxn id="215043" idx="6"/>
            <a:endCxn id="215100" idx="2"/>
          </p:cNvCxnSpPr>
          <p:nvPr/>
        </p:nvCxnSpPr>
        <p:spPr bwMode="auto">
          <a:xfrm>
            <a:off x="2311400" y="3797300"/>
            <a:ext cx="965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15178" name="Text Box 138"/>
          <p:cNvSpPr txBox="1">
            <a:spLocks noChangeArrowheads="1"/>
          </p:cNvSpPr>
          <p:nvPr/>
        </p:nvSpPr>
        <p:spPr bwMode="auto">
          <a:xfrm>
            <a:off x="2627313" y="3581400"/>
            <a:ext cx="2682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2</a:t>
            </a:r>
          </a:p>
        </p:txBody>
      </p:sp>
      <p:sp>
        <p:nvSpPr>
          <p:cNvPr id="215179" name="Oval 139"/>
          <p:cNvSpPr>
            <a:spLocks noChangeArrowheads="1"/>
          </p:cNvSpPr>
          <p:nvPr/>
        </p:nvSpPr>
        <p:spPr bwMode="auto">
          <a:xfrm>
            <a:off x="5435600" y="2420938"/>
            <a:ext cx="2552700" cy="228600"/>
          </a:xfrm>
          <a:prstGeom prst="ellips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cxnSp>
        <p:nvCxnSpPr>
          <p:cNvPr id="215180" name="AutoShape 140"/>
          <p:cNvCxnSpPr>
            <a:cxnSpLocks noChangeShapeType="1"/>
            <a:stCxn id="215043" idx="5"/>
            <a:endCxn id="215099" idx="2"/>
          </p:cNvCxnSpPr>
          <p:nvPr/>
        </p:nvCxnSpPr>
        <p:spPr bwMode="auto">
          <a:xfrm>
            <a:off x="2247900" y="3949700"/>
            <a:ext cx="2044700" cy="685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15181" name="AutoShape 141"/>
          <p:cNvCxnSpPr>
            <a:cxnSpLocks noChangeShapeType="1"/>
            <a:stCxn id="215099" idx="1"/>
            <a:endCxn id="215100" idx="5"/>
          </p:cNvCxnSpPr>
          <p:nvPr/>
        </p:nvCxnSpPr>
        <p:spPr bwMode="auto">
          <a:xfrm flipH="1" flipV="1">
            <a:off x="3644900" y="3949700"/>
            <a:ext cx="71120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15182" name="Text Box 142"/>
          <p:cNvSpPr txBox="1">
            <a:spLocks noChangeArrowheads="1"/>
          </p:cNvSpPr>
          <p:nvPr/>
        </p:nvSpPr>
        <p:spPr bwMode="auto">
          <a:xfrm>
            <a:off x="3962400" y="40386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5</a:t>
            </a:r>
          </a:p>
        </p:txBody>
      </p:sp>
      <p:sp>
        <p:nvSpPr>
          <p:cNvPr id="215183" name="Text Box 143"/>
          <p:cNvSpPr txBox="1">
            <a:spLocks noChangeArrowheads="1"/>
          </p:cNvSpPr>
          <p:nvPr/>
        </p:nvSpPr>
        <p:spPr bwMode="auto">
          <a:xfrm>
            <a:off x="2730500" y="39243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1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3201"/>
            <a:ext cx="7991475" cy="1138238"/>
          </a:xfrm>
        </p:spPr>
        <p:txBody>
          <a:bodyPr>
            <a:normAutofit fontScale="90000"/>
          </a:bodyPr>
          <a:lstStyle/>
          <a:p>
            <a:r>
              <a:rPr lang="pt-BR" sz="4000" dirty="0"/>
              <a:t>PCV – Inserção mais barata</a:t>
            </a:r>
            <a:br>
              <a:rPr lang="pt-BR" sz="4000" dirty="0"/>
            </a:br>
            <a:r>
              <a:rPr lang="pt-BR" sz="4000" dirty="0"/>
              <a:t>Exemplo - Passo 3</a:t>
            </a:r>
            <a:endParaRPr lang="pt-BR" sz="3700" dirty="0"/>
          </a:p>
        </p:txBody>
      </p:sp>
    </p:spTree>
    <p:extLst>
      <p:ext uri="{BB962C8B-B14F-4D97-AF65-F5344CB8AC3E}">
        <p14:creationId xmlns:p14="http://schemas.microsoft.com/office/powerpoint/2010/main" val="312159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15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15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215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215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3" dur="2000"/>
                                        <p:tgtEl>
                                          <p:spTgt spid="215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8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6" dur="2000"/>
                                        <p:tgtEl>
                                          <p:spTgt spid="215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2000" fill="hold"/>
                                        <p:tgtEl>
                                          <p:spTgt spid="2150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3B3B1"/>
                                      </p:to>
                                    </p:animClr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2150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000" fill="hold"/>
                                        <p:tgtEl>
                                          <p:spTgt spid="2150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5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5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5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5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69" grpId="0" build="p"/>
      <p:bldP spid="215170" grpId="0"/>
      <p:bldP spid="215178" grpId="0"/>
      <p:bldP spid="215179" grpId="0" animBg="1"/>
      <p:bldP spid="215182" grpId="0"/>
      <p:bldP spid="21518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7" name="Oval 3"/>
          <p:cNvSpPr>
            <a:spLocks noChangeArrowheads="1"/>
          </p:cNvSpPr>
          <p:nvPr/>
        </p:nvSpPr>
        <p:spPr bwMode="auto">
          <a:xfrm>
            <a:off x="1879600" y="35814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1</a:t>
            </a:r>
          </a:p>
        </p:txBody>
      </p:sp>
      <p:sp>
        <p:nvSpPr>
          <p:cNvPr id="216068" name="Oval 4"/>
          <p:cNvSpPr>
            <a:spLocks noChangeArrowheads="1"/>
          </p:cNvSpPr>
          <p:nvPr/>
        </p:nvSpPr>
        <p:spPr bwMode="auto">
          <a:xfrm>
            <a:off x="3276600" y="5283200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4</a:t>
            </a:r>
          </a:p>
        </p:txBody>
      </p:sp>
      <p:graphicFrame>
        <p:nvGraphicFramePr>
          <p:cNvPr id="216069" name="Group 5"/>
          <p:cNvGraphicFramePr>
            <a:graphicFrameLocks noGrp="1"/>
          </p:cNvGraphicFramePr>
          <p:nvPr/>
        </p:nvGraphicFramePr>
        <p:xfrm>
          <a:off x="5508625" y="1557338"/>
          <a:ext cx="2354263" cy="1684025"/>
        </p:xfrm>
        <a:graphic>
          <a:graphicData uri="http://schemas.openxmlformats.org/drawingml/2006/table">
            <a:tbl>
              <a:tblPr/>
              <a:tblGrid>
                <a:gridCol w="373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k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j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d</a:t>
                      </a:r>
                      <a:r>
                        <a:rPr kumimoji="0" lang="pt-BR" sz="12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ik</a:t>
                      </a:r>
                      <a:r>
                        <a:rPr kumimoji="0" lang="pt-BR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 </a:t>
                      </a: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+</a:t>
                      </a:r>
                      <a:r>
                        <a:rPr kumimoji="0" lang="pt-BR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 d</a:t>
                      </a:r>
                      <a:r>
                        <a:rPr kumimoji="0" lang="pt-BR" sz="12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kj</a:t>
                      </a:r>
                      <a:r>
                        <a:rPr kumimoji="0" lang="pt-BR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 </a:t>
                      </a: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–</a:t>
                      </a:r>
                      <a:r>
                        <a:rPr kumimoji="0" lang="pt-BR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 d</a:t>
                      </a:r>
                      <a:r>
                        <a:rPr kumimoji="0" lang="pt-BR" sz="12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ij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 + 4 – 1 = 9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 + 3 – 1 = 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 + 9 – 5 = 7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 + 2 – 7 = 4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 + 6 – 2 = 6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6108" name="Oval 44"/>
          <p:cNvSpPr>
            <a:spLocks noChangeArrowheads="1"/>
          </p:cNvSpPr>
          <p:nvPr/>
        </p:nvSpPr>
        <p:spPr bwMode="auto">
          <a:xfrm>
            <a:off x="4292600" y="44196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3</a:t>
            </a:r>
          </a:p>
        </p:txBody>
      </p:sp>
      <p:sp>
        <p:nvSpPr>
          <p:cNvPr id="216109" name="Oval 45"/>
          <p:cNvSpPr>
            <a:spLocks noChangeArrowheads="1"/>
          </p:cNvSpPr>
          <p:nvPr/>
        </p:nvSpPr>
        <p:spPr bwMode="auto">
          <a:xfrm>
            <a:off x="3276600" y="35814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2</a:t>
            </a:r>
          </a:p>
        </p:txBody>
      </p:sp>
      <p:sp>
        <p:nvSpPr>
          <p:cNvPr id="216110" name="Oval 46"/>
          <p:cNvSpPr>
            <a:spLocks noChangeArrowheads="1"/>
          </p:cNvSpPr>
          <p:nvPr/>
        </p:nvSpPr>
        <p:spPr bwMode="auto">
          <a:xfrm>
            <a:off x="1879600" y="52832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5</a:t>
            </a:r>
          </a:p>
        </p:txBody>
      </p:sp>
      <p:sp>
        <p:nvSpPr>
          <p:cNvPr id="216111" name="Oval 47"/>
          <p:cNvSpPr>
            <a:spLocks noChangeArrowheads="1"/>
          </p:cNvSpPr>
          <p:nvPr/>
        </p:nvSpPr>
        <p:spPr bwMode="auto">
          <a:xfrm>
            <a:off x="838200" y="44196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6</a:t>
            </a:r>
          </a:p>
        </p:txBody>
      </p:sp>
      <p:graphicFrame>
        <p:nvGraphicFramePr>
          <p:cNvPr id="216112" name="Group 48"/>
          <p:cNvGraphicFramePr>
            <a:graphicFrameLocks noGrp="1"/>
          </p:cNvGraphicFramePr>
          <p:nvPr/>
        </p:nvGraphicFramePr>
        <p:xfrm>
          <a:off x="611188" y="1517650"/>
          <a:ext cx="2855912" cy="1920240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Cid.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8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6178" name="Rectangle 114"/>
          <p:cNvSpPr>
            <a:spLocks noGrp="1" noChangeArrowheads="1"/>
          </p:cNvSpPr>
          <p:nvPr>
            <p:ph type="body" idx="1"/>
          </p:nvPr>
        </p:nvSpPr>
        <p:spPr>
          <a:xfrm>
            <a:off x="5205413" y="5165725"/>
            <a:ext cx="1925637" cy="387350"/>
          </a:xfrm>
          <a:noFill/>
          <a:ln/>
        </p:spPr>
        <p:txBody>
          <a:bodyPr/>
          <a:lstStyle/>
          <a:p>
            <a:pPr marL="177800" indent="-177800"/>
            <a:r>
              <a:rPr lang="pt-BR" sz="1300" b="1"/>
              <a:t>Distância Total</a:t>
            </a:r>
            <a:r>
              <a:rPr lang="pt-BR" sz="1300"/>
              <a:t> </a:t>
            </a:r>
            <a:r>
              <a:rPr lang="pt-BR" sz="1300" b="1"/>
              <a:t>=</a:t>
            </a:r>
          </a:p>
        </p:txBody>
      </p:sp>
      <p:sp>
        <p:nvSpPr>
          <p:cNvPr id="216179" name="Text Box 115"/>
          <p:cNvSpPr txBox="1">
            <a:spLocks noChangeArrowheads="1"/>
          </p:cNvSpPr>
          <p:nvPr/>
        </p:nvSpPr>
        <p:spPr bwMode="auto">
          <a:xfrm>
            <a:off x="6862763" y="5157788"/>
            <a:ext cx="102235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300">
                <a:latin typeface="Arial" charset="0"/>
              </a:rPr>
              <a:t>16 + 4 = 20</a:t>
            </a:r>
          </a:p>
        </p:txBody>
      </p:sp>
      <p:cxnSp>
        <p:nvCxnSpPr>
          <p:cNvPr id="216180" name="AutoShape 116"/>
          <p:cNvCxnSpPr>
            <a:cxnSpLocks noChangeShapeType="1"/>
            <a:stCxn id="216109" idx="3"/>
            <a:endCxn id="216110" idx="7"/>
          </p:cNvCxnSpPr>
          <p:nvPr/>
        </p:nvCxnSpPr>
        <p:spPr bwMode="auto">
          <a:xfrm flipH="1">
            <a:off x="2247900" y="3949700"/>
            <a:ext cx="1092200" cy="13970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16181" name="AutoShape 117"/>
          <p:cNvCxnSpPr>
            <a:cxnSpLocks noChangeShapeType="1"/>
            <a:stCxn id="216110" idx="1"/>
            <a:endCxn id="216111" idx="5"/>
          </p:cNvCxnSpPr>
          <p:nvPr/>
        </p:nvCxnSpPr>
        <p:spPr bwMode="auto">
          <a:xfrm flipH="1" flipV="1">
            <a:off x="1206500" y="4787900"/>
            <a:ext cx="736600" cy="558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16182" name="Text Box 118"/>
          <p:cNvSpPr txBox="1">
            <a:spLocks noChangeArrowheads="1"/>
          </p:cNvSpPr>
          <p:nvPr/>
        </p:nvSpPr>
        <p:spPr bwMode="auto">
          <a:xfrm>
            <a:off x="2819400" y="4500563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7</a:t>
            </a:r>
          </a:p>
        </p:txBody>
      </p:sp>
      <p:sp>
        <p:nvSpPr>
          <p:cNvPr id="216183" name="Text Box 119"/>
          <p:cNvSpPr txBox="1">
            <a:spLocks noChangeArrowheads="1"/>
          </p:cNvSpPr>
          <p:nvPr/>
        </p:nvSpPr>
        <p:spPr bwMode="auto">
          <a:xfrm>
            <a:off x="1371600" y="50038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2</a:t>
            </a:r>
          </a:p>
        </p:txBody>
      </p:sp>
      <p:cxnSp>
        <p:nvCxnSpPr>
          <p:cNvPr id="216184" name="AutoShape 120"/>
          <p:cNvCxnSpPr>
            <a:cxnSpLocks noChangeShapeType="1"/>
            <a:stCxn id="216111" idx="7"/>
            <a:endCxn id="216067" idx="3"/>
          </p:cNvCxnSpPr>
          <p:nvPr/>
        </p:nvCxnSpPr>
        <p:spPr bwMode="auto">
          <a:xfrm flipV="1">
            <a:off x="1206500" y="3949700"/>
            <a:ext cx="73660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16185" name="Text Box 121"/>
          <p:cNvSpPr txBox="1">
            <a:spLocks noChangeArrowheads="1"/>
          </p:cNvSpPr>
          <p:nvPr/>
        </p:nvSpPr>
        <p:spPr bwMode="auto">
          <a:xfrm>
            <a:off x="1371600" y="4017963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1</a:t>
            </a:r>
          </a:p>
        </p:txBody>
      </p:sp>
      <p:sp>
        <p:nvSpPr>
          <p:cNvPr id="216186" name="Oval 122"/>
          <p:cNvSpPr>
            <a:spLocks noChangeArrowheads="1"/>
          </p:cNvSpPr>
          <p:nvPr/>
        </p:nvSpPr>
        <p:spPr bwMode="auto">
          <a:xfrm>
            <a:off x="5435600" y="2695575"/>
            <a:ext cx="2552700" cy="228600"/>
          </a:xfrm>
          <a:prstGeom prst="ellips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cxnSp>
        <p:nvCxnSpPr>
          <p:cNvPr id="216187" name="AutoShape 123"/>
          <p:cNvCxnSpPr>
            <a:cxnSpLocks noChangeShapeType="1"/>
            <a:stCxn id="216067" idx="5"/>
            <a:endCxn id="216108" idx="2"/>
          </p:cNvCxnSpPr>
          <p:nvPr/>
        </p:nvCxnSpPr>
        <p:spPr bwMode="auto">
          <a:xfrm>
            <a:off x="2247900" y="3949700"/>
            <a:ext cx="2044700" cy="685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16188" name="AutoShape 124"/>
          <p:cNvCxnSpPr>
            <a:cxnSpLocks noChangeShapeType="1"/>
            <a:stCxn id="216108" idx="1"/>
            <a:endCxn id="216109" idx="5"/>
          </p:cNvCxnSpPr>
          <p:nvPr/>
        </p:nvCxnSpPr>
        <p:spPr bwMode="auto">
          <a:xfrm flipH="1" flipV="1">
            <a:off x="3644900" y="3949700"/>
            <a:ext cx="71120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16189" name="Text Box 125"/>
          <p:cNvSpPr txBox="1">
            <a:spLocks noChangeArrowheads="1"/>
          </p:cNvSpPr>
          <p:nvPr/>
        </p:nvSpPr>
        <p:spPr bwMode="auto">
          <a:xfrm>
            <a:off x="3962400" y="40386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5</a:t>
            </a:r>
          </a:p>
        </p:txBody>
      </p:sp>
      <p:sp>
        <p:nvSpPr>
          <p:cNvPr id="216190" name="Text Box 126"/>
          <p:cNvSpPr txBox="1">
            <a:spLocks noChangeArrowheads="1"/>
          </p:cNvSpPr>
          <p:nvPr/>
        </p:nvSpPr>
        <p:spPr bwMode="auto">
          <a:xfrm>
            <a:off x="2730500" y="39243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1</a:t>
            </a:r>
          </a:p>
        </p:txBody>
      </p:sp>
      <p:cxnSp>
        <p:nvCxnSpPr>
          <p:cNvPr id="216191" name="AutoShape 127"/>
          <p:cNvCxnSpPr>
            <a:cxnSpLocks noChangeShapeType="1"/>
            <a:stCxn id="216109" idx="4"/>
            <a:endCxn id="216068" idx="0"/>
          </p:cNvCxnSpPr>
          <p:nvPr/>
        </p:nvCxnSpPr>
        <p:spPr bwMode="auto">
          <a:xfrm>
            <a:off x="3492500" y="4013200"/>
            <a:ext cx="0" cy="12700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16192" name="AutoShape 128"/>
          <p:cNvCxnSpPr>
            <a:cxnSpLocks noChangeShapeType="1"/>
            <a:stCxn id="216068" idx="2"/>
            <a:endCxn id="216110" idx="6"/>
          </p:cNvCxnSpPr>
          <p:nvPr/>
        </p:nvCxnSpPr>
        <p:spPr bwMode="auto">
          <a:xfrm flipH="1">
            <a:off x="2311400" y="5499100"/>
            <a:ext cx="965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16193" name="Text Box 129"/>
          <p:cNvSpPr txBox="1">
            <a:spLocks noChangeArrowheads="1"/>
          </p:cNvSpPr>
          <p:nvPr/>
        </p:nvSpPr>
        <p:spPr bwMode="auto">
          <a:xfrm>
            <a:off x="3441700" y="4678363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9</a:t>
            </a:r>
          </a:p>
        </p:txBody>
      </p:sp>
      <p:sp>
        <p:nvSpPr>
          <p:cNvPr id="216194" name="Text Box 130"/>
          <p:cNvSpPr txBox="1">
            <a:spLocks noChangeArrowheads="1"/>
          </p:cNvSpPr>
          <p:nvPr/>
        </p:nvSpPr>
        <p:spPr bwMode="auto">
          <a:xfrm>
            <a:off x="2717800" y="54737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2</a:t>
            </a: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3201"/>
            <a:ext cx="7991475" cy="1138238"/>
          </a:xfrm>
        </p:spPr>
        <p:txBody>
          <a:bodyPr>
            <a:normAutofit fontScale="90000"/>
          </a:bodyPr>
          <a:lstStyle/>
          <a:p>
            <a:r>
              <a:rPr lang="pt-BR" sz="4000" dirty="0"/>
              <a:t>PCV – Inserção mais barata</a:t>
            </a:r>
            <a:br>
              <a:rPr lang="pt-BR" sz="4000" dirty="0"/>
            </a:br>
            <a:r>
              <a:rPr lang="pt-BR" sz="4000" dirty="0"/>
              <a:t>Exemplo - Passo final</a:t>
            </a:r>
            <a:endParaRPr lang="pt-BR" sz="3700" dirty="0"/>
          </a:p>
        </p:txBody>
      </p:sp>
    </p:spTree>
    <p:extLst>
      <p:ext uri="{BB962C8B-B14F-4D97-AF65-F5344CB8AC3E}">
        <p14:creationId xmlns:p14="http://schemas.microsoft.com/office/powerpoint/2010/main" val="1012557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6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16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21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216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216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3" dur="2000"/>
                                        <p:tgtEl>
                                          <p:spTgt spid="216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8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6" dur="2000"/>
                                        <p:tgtEl>
                                          <p:spTgt spid="216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2000" fill="hold"/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3B3B1"/>
                                      </p:to>
                                    </p:animClr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000" fill="hold"/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6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6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6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6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178" grpId="0" build="p"/>
      <p:bldP spid="216179" grpId="0"/>
      <p:bldP spid="216182" grpId="0"/>
      <p:bldP spid="216186" grpId="0" animBg="1"/>
      <p:bldP spid="216193" grpId="0"/>
      <p:bldP spid="21619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1" name="Oval 3"/>
          <p:cNvSpPr>
            <a:spLocks noChangeArrowheads="1"/>
          </p:cNvSpPr>
          <p:nvPr/>
        </p:nvSpPr>
        <p:spPr bwMode="auto">
          <a:xfrm>
            <a:off x="1879600" y="35814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1</a:t>
            </a:r>
          </a:p>
        </p:txBody>
      </p:sp>
      <p:sp>
        <p:nvSpPr>
          <p:cNvPr id="217092" name="Oval 4"/>
          <p:cNvSpPr>
            <a:spLocks noChangeArrowheads="1"/>
          </p:cNvSpPr>
          <p:nvPr/>
        </p:nvSpPr>
        <p:spPr bwMode="auto">
          <a:xfrm>
            <a:off x="4292600" y="44196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3</a:t>
            </a:r>
          </a:p>
        </p:txBody>
      </p:sp>
      <p:sp>
        <p:nvSpPr>
          <p:cNvPr id="217093" name="Oval 5"/>
          <p:cNvSpPr>
            <a:spLocks noChangeArrowheads="1"/>
          </p:cNvSpPr>
          <p:nvPr/>
        </p:nvSpPr>
        <p:spPr bwMode="auto">
          <a:xfrm>
            <a:off x="3276600" y="35814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2</a:t>
            </a:r>
          </a:p>
        </p:txBody>
      </p:sp>
      <p:sp>
        <p:nvSpPr>
          <p:cNvPr id="217094" name="Oval 6"/>
          <p:cNvSpPr>
            <a:spLocks noChangeArrowheads="1"/>
          </p:cNvSpPr>
          <p:nvPr/>
        </p:nvSpPr>
        <p:spPr bwMode="auto">
          <a:xfrm>
            <a:off x="1879600" y="52832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5</a:t>
            </a:r>
          </a:p>
        </p:txBody>
      </p:sp>
      <p:sp>
        <p:nvSpPr>
          <p:cNvPr id="217095" name="Oval 7"/>
          <p:cNvSpPr>
            <a:spLocks noChangeArrowheads="1"/>
          </p:cNvSpPr>
          <p:nvPr/>
        </p:nvSpPr>
        <p:spPr bwMode="auto">
          <a:xfrm>
            <a:off x="838200" y="441960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6</a:t>
            </a:r>
          </a:p>
        </p:txBody>
      </p:sp>
      <p:sp>
        <p:nvSpPr>
          <p:cNvPr id="217162" name="Rectangle 74"/>
          <p:cNvSpPr>
            <a:spLocks noGrp="1" noChangeArrowheads="1"/>
          </p:cNvSpPr>
          <p:nvPr>
            <p:ph type="body" idx="1"/>
          </p:nvPr>
        </p:nvSpPr>
        <p:spPr>
          <a:xfrm>
            <a:off x="5205413" y="5165725"/>
            <a:ext cx="1925637" cy="387350"/>
          </a:xfrm>
          <a:noFill/>
          <a:ln/>
        </p:spPr>
        <p:txBody>
          <a:bodyPr/>
          <a:lstStyle/>
          <a:p>
            <a:pPr marL="177800" indent="-177800"/>
            <a:r>
              <a:rPr lang="pt-BR" sz="1300" b="1"/>
              <a:t>Distância Total</a:t>
            </a:r>
            <a:r>
              <a:rPr lang="pt-BR" sz="1300"/>
              <a:t> </a:t>
            </a:r>
            <a:r>
              <a:rPr lang="pt-BR" sz="1300" b="1"/>
              <a:t>=</a:t>
            </a:r>
          </a:p>
        </p:txBody>
      </p:sp>
      <p:sp>
        <p:nvSpPr>
          <p:cNvPr id="217163" name="Text Box 75"/>
          <p:cNvSpPr txBox="1">
            <a:spLocks noChangeArrowheads="1"/>
          </p:cNvSpPr>
          <p:nvPr/>
        </p:nvSpPr>
        <p:spPr bwMode="auto">
          <a:xfrm>
            <a:off x="6862763" y="5157788"/>
            <a:ext cx="102235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300">
                <a:latin typeface="Arial" charset="0"/>
              </a:rPr>
              <a:t>16 + 4 = 20</a:t>
            </a:r>
          </a:p>
        </p:txBody>
      </p:sp>
      <p:cxnSp>
        <p:nvCxnSpPr>
          <p:cNvPr id="217164" name="AutoShape 76"/>
          <p:cNvCxnSpPr>
            <a:cxnSpLocks noChangeShapeType="1"/>
            <a:stCxn id="217094" idx="1"/>
            <a:endCxn id="217095" idx="5"/>
          </p:cNvCxnSpPr>
          <p:nvPr/>
        </p:nvCxnSpPr>
        <p:spPr bwMode="auto">
          <a:xfrm flipH="1" flipV="1">
            <a:off x="1206500" y="4787900"/>
            <a:ext cx="736600" cy="558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17165" name="Text Box 77"/>
          <p:cNvSpPr txBox="1">
            <a:spLocks noChangeArrowheads="1"/>
          </p:cNvSpPr>
          <p:nvPr/>
        </p:nvSpPr>
        <p:spPr bwMode="auto">
          <a:xfrm>
            <a:off x="1371600" y="50038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2</a:t>
            </a:r>
          </a:p>
        </p:txBody>
      </p:sp>
      <p:cxnSp>
        <p:nvCxnSpPr>
          <p:cNvPr id="217166" name="AutoShape 78"/>
          <p:cNvCxnSpPr>
            <a:cxnSpLocks noChangeShapeType="1"/>
            <a:stCxn id="217095" idx="7"/>
            <a:endCxn id="217091" idx="3"/>
          </p:cNvCxnSpPr>
          <p:nvPr/>
        </p:nvCxnSpPr>
        <p:spPr bwMode="auto">
          <a:xfrm flipV="1">
            <a:off x="1206500" y="3949700"/>
            <a:ext cx="73660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17167" name="Text Box 79"/>
          <p:cNvSpPr txBox="1">
            <a:spLocks noChangeArrowheads="1"/>
          </p:cNvSpPr>
          <p:nvPr/>
        </p:nvSpPr>
        <p:spPr bwMode="auto">
          <a:xfrm>
            <a:off x="1371600" y="4017963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1</a:t>
            </a:r>
          </a:p>
        </p:txBody>
      </p:sp>
      <p:cxnSp>
        <p:nvCxnSpPr>
          <p:cNvPr id="217168" name="AutoShape 80"/>
          <p:cNvCxnSpPr>
            <a:cxnSpLocks noChangeShapeType="1"/>
            <a:stCxn id="217091" idx="5"/>
            <a:endCxn id="217092" idx="2"/>
          </p:cNvCxnSpPr>
          <p:nvPr/>
        </p:nvCxnSpPr>
        <p:spPr bwMode="auto">
          <a:xfrm>
            <a:off x="2247900" y="3949700"/>
            <a:ext cx="2044700" cy="685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17169" name="AutoShape 81"/>
          <p:cNvCxnSpPr>
            <a:cxnSpLocks noChangeShapeType="1"/>
            <a:stCxn id="217092" idx="1"/>
            <a:endCxn id="217093" idx="5"/>
          </p:cNvCxnSpPr>
          <p:nvPr/>
        </p:nvCxnSpPr>
        <p:spPr bwMode="auto">
          <a:xfrm flipH="1" flipV="1">
            <a:off x="3644900" y="3949700"/>
            <a:ext cx="71120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17170" name="Text Box 82"/>
          <p:cNvSpPr txBox="1">
            <a:spLocks noChangeArrowheads="1"/>
          </p:cNvSpPr>
          <p:nvPr/>
        </p:nvSpPr>
        <p:spPr bwMode="auto">
          <a:xfrm>
            <a:off x="3962400" y="40386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5</a:t>
            </a:r>
          </a:p>
        </p:txBody>
      </p:sp>
      <p:sp>
        <p:nvSpPr>
          <p:cNvPr id="217171" name="Text Box 83"/>
          <p:cNvSpPr txBox="1">
            <a:spLocks noChangeArrowheads="1"/>
          </p:cNvSpPr>
          <p:nvPr/>
        </p:nvSpPr>
        <p:spPr bwMode="auto">
          <a:xfrm>
            <a:off x="2730500" y="39243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1</a:t>
            </a:r>
          </a:p>
        </p:txBody>
      </p:sp>
      <p:cxnSp>
        <p:nvCxnSpPr>
          <p:cNvPr id="217172" name="AutoShape 84"/>
          <p:cNvCxnSpPr>
            <a:cxnSpLocks noChangeShapeType="1"/>
            <a:stCxn id="217093" idx="4"/>
          </p:cNvCxnSpPr>
          <p:nvPr/>
        </p:nvCxnSpPr>
        <p:spPr bwMode="auto">
          <a:xfrm>
            <a:off x="3492500" y="4013200"/>
            <a:ext cx="0" cy="12700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17173" name="AutoShape 85"/>
          <p:cNvCxnSpPr>
            <a:cxnSpLocks noChangeShapeType="1"/>
            <a:endCxn id="217094" idx="6"/>
          </p:cNvCxnSpPr>
          <p:nvPr/>
        </p:nvCxnSpPr>
        <p:spPr bwMode="auto">
          <a:xfrm flipH="1">
            <a:off x="2311400" y="5499100"/>
            <a:ext cx="965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17174" name="Text Box 86"/>
          <p:cNvSpPr txBox="1">
            <a:spLocks noChangeArrowheads="1"/>
          </p:cNvSpPr>
          <p:nvPr/>
        </p:nvSpPr>
        <p:spPr bwMode="auto">
          <a:xfrm>
            <a:off x="3441700" y="4678363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9</a:t>
            </a:r>
          </a:p>
        </p:txBody>
      </p:sp>
      <p:sp>
        <p:nvSpPr>
          <p:cNvPr id="217175" name="Text Box 87"/>
          <p:cNvSpPr txBox="1">
            <a:spLocks noChangeArrowheads="1"/>
          </p:cNvSpPr>
          <p:nvPr/>
        </p:nvSpPr>
        <p:spPr bwMode="auto">
          <a:xfrm>
            <a:off x="2717800" y="547370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200">
                <a:latin typeface="Arial" charset="0"/>
              </a:rPr>
              <a:t>2</a:t>
            </a:r>
          </a:p>
        </p:txBody>
      </p:sp>
      <p:sp>
        <p:nvSpPr>
          <p:cNvPr id="217176" name="Text Box 88"/>
          <p:cNvSpPr txBox="1">
            <a:spLocks noChangeArrowheads="1"/>
          </p:cNvSpPr>
          <p:nvPr/>
        </p:nvSpPr>
        <p:spPr bwMode="auto">
          <a:xfrm>
            <a:off x="4903788" y="5692775"/>
            <a:ext cx="312420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2500" i="1">
                <a:latin typeface="Arial" charset="0"/>
              </a:rPr>
              <a:t>s</a:t>
            </a:r>
            <a:r>
              <a:rPr lang="pt-BR" sz="2500">
                <a:latin typeface="Arial" charset="0"/>
              </a:rPr>
              <a:t> = (6 1 3 2 4 5)</a:t>
            </a:r>
          </a:p>
        </p:txBody>
      </p:sp>
      <p:sp>
        <p:nvSpPr>
          <p:cNvPr id="217177" name="Oval 89"/>
          <p:cNvSpPr>
            <a:spLocks noChangeArrowheads="1"/>
          </p:cNvSpPr>
          <p:nvPr/>
        </p:nvSpPr>
        <p:spPr bwMode="auto">
          <a:xfrm>
            <a:off x="3276600" y="5276850"/>
            <a:ext cx="431800" cy="431800"/>
          </a:xfrm>
          <a:prstGeom prst="ellipse">
            <a:avLst/>
          </a:prstGeom>
          <a:solidFill>
            <a:srgbClr val="63B3B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800">
                <a:latin typeface="Arial" charset="0"/>
              </a:rPr>
              <a:t>4</a:t>
            </a:r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3201"/>
            <a:ext cx="7991475" cy="1138238"/>
          </a:xfrm>
        </p:spPr>
        <p:txBody>
          <a:bodyPr>
            <a:normAutofit fontScale="90000"/>
          </a:bodyPr>
          <a:lstStyle/>
          <a:p>
            <a:r>
              <a:rPr lang="pt-BR" sz="4000" dirty="0"/>
              <a:t>PCV – Inserção mais barata</a:t>
            </a:r>
            <a:br>
              <a:rPr lang="pt-BR" sz="4000" dirty="0"/>
            </a:br>
            <a:r>
              <a:rPr lang="pt-BR" sz="4000" dirty="0"/>
              <a:t>Exemplo – solução final</a:t>
            </a:r>
            <a:endParaRPr lang="pt-BR" sz="3700" dirty="0"/>
          </a:p>
        </p:txBody>
      </p:sp>
      <p:graphicFrame>
        <p:nvGraphicFramePr>
          <p:cNvPr id="27" name="Group 48">
            <a:extLst>
              <a:ext uri="{FF2B5EF4-FFF2-40B4-BE49-F238E27FC236}">
                <a16:creationId xmlns:a16="http://schemas.microsoft.com/office/drawing/2014/main" id="{0962AA16-8B9B-5645-824C-F84441172AAD}"/>
              </a:ext>
            </a:extLst>
          </p:cNvPr>
          <p:cNvGraphicFramePr>
            <a:graphicFrameLocks noGrp="1"/>
          </p:cNvGraphicFramePr>
          <p:nvPr/>
        </p:nvGraphicFramePr>
        <p:xfrm>
          <a:off x="611188" y="1517650"/>
          <a:ext cx="2855912" cy="1920240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Cid.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8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9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0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6</a:t>
                      </a:r>
                      <a:endParaRPr kumimoji="0" lang="pt-B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charset="0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5217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Métodos</a:t>
            </a:r>
            <a:r>
              <a:rPr lang="en-US" dirty="0"/>
              <a:t> </a:t>
            </a:r>
            <a:r>
              <a:rPr lang="en-US" dirty="0" err="1"/>
              <a:t>Construtivos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Como </a:t>
            </a:r>
            <a:r>
              <a:rPr lang="en-US" dirty="0" err="1"/>
              <a:t>adaptar</a:t>
            </a:r>
            <a:r>
              <a:rPr lang="en-US" dirty="0"/>
              <a:t>?</a:t>
            </a:r>
          </a:p>
          <a:p>
            <a:pPr lvl="1"/>
            <a:r>
              <a:rPr lang="pt-BR" sz="2800" dirty="0"/>
              <a:t>Heurística do vizinho mais próximo para o Problema de Roteamento de Veículos com frota homogênea.</a:t>
            </a:r>
          </a:p>
          <a:p>
            <a:pPr lvl="1"/>
            <a:endParaRPr lang="en-US" sz="2800" dirty="0"/>
          </a:p>
          <a:p>
            <a:pPr lvl="1"/>
            <a:r>
              <a:rPr lang="pt-BR" dirty="0"/>
              <a:t>Heurística da inserção mais barata para o Problema de Roteamento de Veículos com frota homogênea.</a:t>
            </a:r>
          </a:p>
          <a:p>
            <a:pPr lvl="1"/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6790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Métodos</a:t>
            </a:r>
            <a:r>
              <a:rPr lang="en-US" dirty="0"/>
              <a:t> </a:t>
            </a:r>
            <a:r>
              <a:rPr lang="en-US" dirty="0" err="1"/>
              <a:t>Construtivos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PRV</a:t>
            </a:r>
          </a:p>
          <a:p>
            <a:pPr lvl="1"/>
            <a:r>
              <a:rPr lang="en-US" dirty="0" err="1"/>
              <a:t>Estratégia</a:t>
            </a:r>
            <a:r>
              <a:rPr lang="en-US" dirty="0"/>
              <a:t> </a:t>
            </a:r>
            <a:r>
              <a:rPr lang="en-US" dirty="0" err="1"/>
              <a:t>Sequencial</a:t>
            </a:r>
            <a:r>
              <a:rPr lang="en-US" dirty="0"/>
              <a:t> x </a:t>
            </a:r>
            <a:r>
              <a:rPr lang="en-US" dirty="0" err="1"/>
              <a:t>Paralela</a:t>
            </a:r>
            <a:endParaRPr lang="en-US" dirty="0"/>
          </a:p>
          <a:p>
            <a:pPr lvl="1"/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490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Construtivos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Árvore de Steiner</a:t>
            </a:r>
          </a:p>
          <a:p>
            <a:pPr lvl="1">
              <a:buNone/>
            </a:pPr>
            <a:r>
              <a:rPr lang="pt-BR" dirty="0"/>
              <a:t>Definir:</a:t>
            </a:r>
          </a:p>
          <a:p>
            <a:pPr lvl="1"/>
            <a:r>
              <a:rPr lang="pt-BR" dirty="0"/>
              <a:t>E:</a:t>
            </a:r>
          </a:p>
          <a:p>
            <a:pPr lvl="1"/>
            <a:r>
              <a:rPr lang="pt-BR" dirty="0"/>
              <a:t>Heurística Local:</a:t>
            </a:r>
          </a:p>
        </p:txBody>
      </p:sp>
    </p:spTree>
    <p:extLst>
      <p:ext uri="{BB962C8B-B14F-4D97-AF65-F5344CB8AC3E}">
        <p14:creationId xmlns:p14="http://schemas.microsoft.com/office/powerpoint/2010/main" val="1540606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Dúvidas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Perguntas ou comentários?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7554" y="2571744"/>
            <a:ext cx="2160240" cy="2884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tângulo 4"/>
          <p:cNvSpPr/>
          <p:nvPr/>
        </p:nvSpPr>
        <p:spPr>
          <a:xfrm>
            <a:off x="6000760" y="5143512"/>
            <a:ext cx="2745302" cy="7017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20000"/>
              </a:spcBef>
              <a:defRPr/>
            </a:pP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Luciana Brugiolo Gonçalves</a:t>
            </a:r>
          </a:p>
          <a:p>
            <a:pPr lvl="0" algn="ctr">
              <a:spcBef>
                <a:spcPct val="20000"/>
              </a:spcBef>
              <a:defRPr/>
            </a:pPr>
            <a:r>
              <a:rPr lang="pt-BR" dirty="0" err="1"/>
              <a:t>lbrugiolo@ice.ufjf.br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8581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EL-GHAZALI TALBI. </a:t>
            </a:r>
            <a:r>
              <a:rPr lang="en-US" dirty="0" err="1"/>
              <a:t>Metaheuristics</a:t>
            </a:r>
            <a:r>
              <a:rPr lang="en-US" dirty="0"/>
              <a:t>: From Design to Implementation, Wiley, 2009.</a:t>
            </a:r>
            <a:endParaRPr lang="pt-BR" dirty="0"/>
          </a:p>
          <a:p>
            <a:r>
              <a:rPr lang="pt-BR" dirty="0"/>
              <a:t>Notas de aula do prof. Marcone </a:t>
            </a:r>
            <a:r>
              <a:rPr lang="pt-BR" dirty="0" err="1"/>
              <a:t>Jamilson</a:t>
            </a:r>
            <a:r>
              <a:rPr lang="pt-BR" dirty="0"/>
              <a:t> Souza (UFOP)</a:t>
            </a:r>
          </a:p>
          <a:p>
            <a:r>
              <a:rPr lang="pt-BR" dirty="0"/>
              <a:t>Notas de aula da </a:t>
            </a:r>
            <a:r>
              <a:rPr lang="pt-BR" dirty="0" err="1"/>
              <a:t>prof</a:t>
            </a:r>
            <a:r>
              <a:rPr lang="pt-BR" baseline="30000" dirty="0" err="1"/>
              <a:t>a</a:t>
            </a:r>
            <a:r>
              <a:rPr lang="pt-BR" dirty="0"/>
              <a:t> </a:t>
            </a:r>
            <a:r>
              <a:rPr lang="en-US" dirty="0" err="1"/>
              <a:t>Liliane</a:t>
            </a:r>
            <a:r>
              <a:rPr lang="en-US" dirty="0"/>
              <a:t> Salgado (UFPE).</a:t>
            </a:r>
          </a:p>
          <a:p>
            <a:r>
              <a:rPr lang="en-US" dirty="0" err="1"/>
              <a:t>Notas</a:t>
            </a:r>
            <a:r>
              <a:rPr lang="en-US" dirty="0"/>
              <a:t> de aula do </a:t>
            </a:r>
            <a:r>
              <a:rPr lang="en-US" dirty="0" err="1"/>
              <a:t>prof</a:t>
            </a:r>
            <a:r>
              <a:rPr lang="en-US" dirty="0"/>
              <a:t> </a:t>
            </a:r>
            <a:r>
              <a:rPr lang="en-US" dirty="0" err="1"/>
              <a:t>Celso</a:t>
            </a:r>
            <a:r>
              <a:rPr lang="en-US" dirty="0"/>
              <a:t> </a:t>
            </a:r>
            <a:r>
              <a:rPr lang="en-US" dirty="0" err="1"/>
              <a:t>Ribeiro</a:t>
            </a:r>
            <a:r>
              <a:rPr lang="en-US" dirty="0"/>
              <a:t> (UFF).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93308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TRABALHO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TRABALHO 1 (</a:t>
            </a:r>
            <a:r>
              <a:rPr lang="en-US" dirty="0" err="1"/>
              <a:t>continuação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The capacitated team orienteering problem</a:t>
            </a:r>
          </a:p>
          <a:p>
            <a:pPr lvl="2"/>
            <a:r>
              <a:rPr lang="en-US" dirty="0" err="1"/>
              <a:t>Propor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estratégia</a:t>
            </a:r>
            <a:r>
              <a:rPr lang="en-US" dirty="0"/>
              <a:t> </a:t>
            </a:r>
            <a:r>
              <a:rPr lang="en-US" dirty="0" err="1"/>
              <a:t>capaz</a:t>
            </a:r>
            <a:r>
              <a:rPr lang="en-US" dirty="0"/>
              <a:t> de </a:t>
            </a:r>
            <a:r>
              <a:rPr lang="en-US" dirty="0" err="1"/>
              <a:t>construir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solução</a:t>
            </a:r>
            <a:r>
              <a:rPr lang="en-US" dirty="0"/>
              <a:t> </a:t>
            </a:r>
            <a:r>
              <a:rPr lang="en-US" dirty="0" err="1"/>
              <a:t>viável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o CTOP.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77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12385</TotalTime>
  <Words>2201</Words>
  <Application>Microsoft Macintosh PowerPoint</Application>
  <PresentationFormat>Apresentação na tela (4:3)</PresentationFormat>
  <Paragraphs>1109</Paragraphs>
  <Slides>39</Slides>
  <Notes>13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6" baseType="lpstr">
      <vt:lpstr>Arial</vt:lpstr>
      <vt:lpstr>Arial Rounded MT Bold</vt:lpstr>
      <vt:lpstr>Calibri</vt:lpstr>
      <vt:lpstr>Times New Roman</vt:lpstr>
      <vt:lpstr>Wingdings</vt:lpstr>
      <vt:lpstr>Office Theme</vt:lpstr>
      <vt:lpstr>Imagem de bitmap</vt:lpstr>
      <vt:lpstr> - DCC136 - Algoritmos Construtivos</vt:lpstr>
      <vt:lpstr>Conceitos Comuns</vt:lpstr>
      <vt:lpstr>Métodos Construtivos</vt:lpstr>
      <vt:lpstr>Métodos Construtivos</vt:lpstr>
      <vt:lpstr>Métodos Construtivos</vt:lpstr>
      <vt:lpstr>Métodos Construtivos</vt:lpstr>
      <vt:lpstr>Métodos Construtivos</vt:lpstr>
      <vt:lpstr>Métodos Construtivos</vt:lpstr>
      <vt:lpstr>Métodos Construtivos</vt:lpstr>
      <vt:lpstr>Métodos Construtivos</vt:lpstr>
      <vt:lpstr>Métodos Construtivos</vt:lpstr>
      <vt:lpstr>Métodos Construtivos</vt:lpstr>
      <vt:lpstr>Métodos Construtivos</vt:lpstr>
      <vt:lpstr>Métodos Construtivos</vt:lpstr>
      <vt:lpstr>Métodos Construtivos</vt:lpstr>
      <vt:lpstr>Métodos Construtivos</vt:lpstr>
      <vt:lpstr>Métodos Construtivos</vt:lpstr>
      <vt:lpstr>Métodos Construtivos</vt:lpstr>
      <vt:lpstr>PCV – Vizinho mais Próximo Exemplo - Passo 1</vt:lpstr>
      <vt:lpstr>PCV – Vizinho mais Próximo Exemplo - Passo 2</vt:lpstr>
      <vt:lpstr>PCV – Vizinho mais Próximo Exemplo - Passo 3</vt:lpstr>
      <vt:lpstr>PCV – Vizinho mais Próximo Exemplo - Passo 4</vt:lpstr>
      <vt:lpstr>PCV – Vizinho mais Próximo Exemplo - Passo 5</vt:lpstr>
      <vt:lpstr>PCV – Vizinho mais Próximo Exemplo – Passo final: “Inserção forçada”</vt:lpstr>
      <vt:lpstr>Métodos Construtivos</vt:lpstr>
      <vt:lpstr>Métodos Construtivos</vt:lpstr>
      <vt:lpstr>PCV – Inserção mais barata Exemplo - Passo 0</vt:lpstr>
      <vt:lpstr>PCV – Inserção mais barata Exemplo - Passo 1</vt:lpstr>
      <vt:lpstr>PCV – Inserção mais barata Exemplo - Passo 1</vt:lpstr>
      <vt:lpstr>PCV – Inserção mais barata Exemplo - Passo 2</vt:lpstr>
      <vt:lpstr>PCV – Inserção mais barata Exemplo - Passo 3</vt:lpstr>
      <vt:lpstr>PCV – Inserção mais barata Exemplo - Passo final</vt:lpstr>
      <vt:lpstr>PCV – Inserção mais barata Exemplo – solução final</vt:lpstr>
      <vt:lpstr>Métodos Construtivos</vt:lpstr>
      <vt:lpstr>Métodos Construtivos</vt:lpstr>
      <vt:lpstr>Métodos Construtivos</vt:lpstr>
      <vt:lpstr>Dúvidas</vt:lpstr>
      <vt:lpstr>Referências</vt:lpstr>
      <vt:lpstr>TRABALHO</vt:lpstr>
    </vt:vector>
  </TitlesOfParts>
  <Company>UFV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Luciana Brugiolo Gonçalves</dc:creator>
  <cp:lastModifiedBy>Microsoft Office User</cp:lastModifiedBy>
  <cp:revision>54</cp:revision>
  <dcterms:created xsi:type="dcterms:W3CDTF">2014-08-19T22:02:41Z</dcterms:created>
  <dcterms:modified xsi:type="dcterms:W3CDTF">2022-05-10T13:14:09Z</dcterms:modified>
</cp:coreProperties>
</file>